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D28E-F24C-7073-4811-B936DA20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837E8AF0-419B-96E1-7A25-5042842E3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381BB7-958E-EF66-0E12-A29D9C1CFDFF}"/>
              </a:ext>
            </a:extLst>
          </p:cNvPr>
          <p:cNvSpPr txBox="1"/>
          <p:nvPr/>
        </p:nvSpPr>
        <p:spPr>
          <a:xfrm>
            <a:off x="2295728" y="2757792"/>
            <a:ext cx="70330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SECTION 3 - What is a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Programming   Language?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4F8A1-F1E2-96CB-A902-617BD04FBF91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823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943920" y="1968178"/>
            <a:ext cx="25011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3.1 Definition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399" y="2838805"/>
            <a:ext cx="463178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Programming languages allows humans to </a:t>
            </a:r>
          </a:p>
          <a:p>
            <a:pPr algn="l"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communicate with computers</a:t>
            </a:r>
            <a:endParaRPr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2E38A-E14B-689B-5889-B230B69DD183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DEDD34-2B83-4372-A695-31BD3009D1F1}"/>
              </a:ext>
            </a:extLst>
          </p:cNvPr>
          <p:cNvSpPr txBox="1"/>
          <p:nvPr/>
        </p:nvSpPr>
        <p:spPr>
          <a:xfrm>
            <a:off x="914399" y="3808497"/>
            <a:ext cx="41073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Computers understand only 0s and 1s</a:t>
            </a:r>
            <a:endParaRPr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D2073-8DCF-B484-D3C2-66FCC949C05B}"/>
              </a:ext>
            </a:extLst>
          </p:cNvPr>
          <p:cNvSpPr txBox="1"/>
          <p:nvPr/>
        </p:nvSpPr>
        <p:spPr>
          <a:xfrm>
            <a:off x="943920" y="4470413"/>
            <a:ext cx="46658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Programming languages act as a translator 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between us and the machine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4C9F4-2AD8-FE67-FD2F-59CF3473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FD433827-F75B-01CD-EC28-0F4C037CE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1FF14E-85C8-83F2-FD95-7CC5B7FEDBA1}"/>
              </a:ext>
            </a:extLst>
          </p:cNvPr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0A2D0-BC97-6161-326D-E2A60E519DDB}"/>
              </a:ext>
            </a:extLst>
          </p:cNvPr>
          <p:cNvSpPr txBox="1"/>
          <p:nvPr/>
        </p:nvSpPr>
        <p:spPr>
          <a:xfrm>
            <a:off x="980878" y="1968178"/>
            <a:ext cx="65712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2800" dirty="0"/>
              <a:t>3.2 Why we need programming languages</a:t>
            </a:r>
            <a:r>
              <a:rPr lang="en-US" sz="2400" dirty="0"/>
              <a:t>?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E6082-5B84-96F9-C748-F70B7710F76B}"/>
              </a:ext>
            </a:extLst>
          </p:cNvPr>
          <p:cNvSpPr txBox="1"/>
          <p:nvPr/>
        </p:nvSpPr>
        <p:spPr>
          <a:xfrm>
            <a:off x="914399" y="2838805"/>
            <a:ext cx="58371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Without them we had to program using only 0s and 1s</a:t>
            </a:r>
            <a:endParaRPr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A94EB-77F0-6E3C-EECE-62BBBF83B52C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D6A7F-C32B-2036-502D-A316D1F585F4}"/>
              </a:ext>
            </a:extLst>
          </p:cNvPr>
          <p:cNvSpPr txBox="1"/>
          <p:nvPr/>
        </p:nvSpPr>
        <p:spPr>
          <a:xfrm>
            <a:off x="975853" y="3586322"/>
            <a:ext cx="493853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Programming languages are readable making </a:t>
            </a:r>
          </a:p>
          <a:p>
            <a:pPr algn="l"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it much easier for the code to be understood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707627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2389-17F3-73F5-32C0-8F7688B2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4A8FCDEB-DCF1-B3EA-5B54-8F6319794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4C6FCB-8D55-9A87-3346-3F419D9537ED}"/>
              </a:ext>
            </a:extLst>
          </p:cNvPr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A4A33-0B96-353B-2CAB-6A86B6B746F5}"/>
              </a:ext>
            </a:extLst>
          </p:cNvPr>
          <p:cNvSpPr txBox="1"/>
          <p:nvPr/>
        </p:nvSpPr>
        <p:spPr>
          <a:xfrm>
            <a:off x="914399" y="1889175"/>
            <a:ext cx="6192337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2800" dirty="0"/>
              <a:t>3.3 </a:t>
            </a:r>
            <a:r>
              <a:rPr lang="bg-BG" sz="2800" b="1" dirty="0" err="1"/>
              <a:t>How</a:t>
            </a:r>
            <a:r>
              <a:rPr lang="bg-BG" sz="2800" b="1" dirty="0"/>
              <a:t> </a:t>
            </a:r>
            <a:r>
              <a:rPr lang="bg-BG" sz="2800" b="1" dirty="0" err="1"/>
              <a:t>Programming</a:t>
            </a:r>
            <a:r>
              <a:rPr lang="bg-BG" sz="2800" b="1" dirty="0"/>
              <a:t> </a:t>
            </a:r>
            <a:r>
              <a:rPr lang="bg-BG" sz="2800" b="1" dirty="0" err="1"/>
              <a:t>Languages</a:t>
            </a:r>
            <a:r>
              <a:rPr lang="bg-BG" sz="2800" b="1" dirty="0"/>
              <a:t> </a:t>
            </a:r>
            <a:r>
              <a:rPr lang="bg-BG" sz="2800" b="1" dirty="0" err="1"/>
              <a:t>Work</a:t>
            </a:r>
            <a:r>
              <a:rPr lang="en-US" sz="2800" b="1" dirty="0"/>
              <a:t>?</a:t>
            </a:r>
            <a:endParaRPr lang="bg-BG" sz="2800" b="1" dirty="0"/>
          </a:p>
          <a:p>
            <a:pPr algn="ctr">
              <a:defRPr sz="3200" b="1">
                <a:solidFill>
                  <a:srgbClr val="FFFFFF"/>
                </a:solidFill>
              </a:defRPr>
            </a:pP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C762D-DE5B-AFDC-6BD1-1D0801E503C1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D586E-9D41-5AEB-E720-6FCF986E2313}"/>
              </a:ext>
            </a:extLst>
          </p:cNvPr>
          <p:cNvSpPr txBox="1"/>
          <p:nvPr/>
        </p:nvSpPr>
        <p:spPr>
          <a:xfrm>
            <a:off x="914399" y="2582550"/>
            <a:ext cx="704622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1. </a:t>
            </a:r>
            <a:r>
              <a:rPr lang="bg-BG" sz="2000" dirty="0" err="1">
                <a:solidFill>
                  <a:schemeClr val="bg1"/>
                </a:solidFill>
              </a:rPr>
              <a:t>You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write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instructions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</a:t>
            </a:r>
            <a:r>
              <a:rPr lang="bg-BG" sz="2000" dirty="0">
                <a:solidFill>
                  <a:schemeClr val="bg1"/>
                </a:solidFill>
              </a:rPr>
              <a:t> a </a:t>
            </a:r>
            <a:r>
              <a:rPr lang="bg-BG" sz="2000" dirty="0" err="1">
                <a:solidFill>
                  <a:schemeClr val="bg1"/>
                </a:solidFill>
              </a:rPr>
              <a:t>programming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language</a:t>
            </a:r>
            <a:r>
              <a:rPr lang="bg-BG" sz="2000" dirty="0">
                <a:solidFill>
                  <a:schemeClr val="bg1"/>
                </a:solidFill>
              </a:rPr>
              <a:t> (</a:t>
            </a:r>
            <a:r>
              <a:rPr lang="bg-BG" sz="2000" dirty="0" err="1">
                <a:solidFill>
                  <a:schemeClr val="bg1"/>
                </a:solidFill>
              </a:rPr>
              <a:t>like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Python</a:t>
            </a:r>
            <a:r>
              <a:rPr lang="bg-BG" sz="2000" dirty="0">
                <a:solidFill>
                  <a:schemeClr val="bg1"/>
                </a:solidFill>
              </a:rPr>
              <a:t>).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2. </a:t>
            </a:r>
            <a:r>
              <a:rPr lang="bg-BG" sz="2000" dirty="0">
                <a:solidFill>
                  <a:schemeClr val="bg1"/>
                </a:solidFill>
              </a:rPr>
              <a:t>A </a:t>
            </a:r>
            <a:r>
              <a:rPr lang="bg-BG" sz="2000" b="1" dirty="0" err="1">
                <a:solidFill>
                  <a:schemeClr val="bg1"/>
                </a:solidFill>
              </a:rPr>
              <a:t>compiler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or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interpreter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translates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those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instructions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into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r>
              <a:rPr lang="bg-BG" sz="2000" dirty="0" err="1">
                <a:solidFill>
                  <a:schemeClr val="bg1"/>
                </a:solidFill>
              </a:rPr>
              <a:t>machine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language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bg-BG" sz="2000" dirty="0">
                <a:solidFill>
                  <a:schemeClr val="bg1"/>
                </a:solidFill>
              </a:rPr>
              <a:t>— </a:t>
            </a:r>
            <a:r>
              <a:rPr lang="bg-BG" sz="2000" dirty="0" err="1">
                <a:solidFill>
                  <a:schemeClr val="bg1"/>
                </a:solidFill>
              </a:rPr>
              <a:t>the</a:t>
            </a:r>
            <a:r>
              <a:rPr lang="bg-BG" sz="2000" dirty="0">
                <a:solidFill>
                  <a:schemeClr val="bg1"/>
                </a:solidFill>
              </a:rPr>
              <a:t> 1s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0s </a:t>
            </a:r>
            <a:r>
              <a:rPr lang="bg-BG" sz="2000" dirty="0" err="1">
                <a:solidFill>
                  <a:schemeClr val="bg1"/>
                </a:solidFill>
              </a:rPr>
              <a:t>the</a:t>
            </a:r>
            <a:r>
              <a:rPr lang="bg-BG" sz="2000" dirty="0">
                <a:solidFill>
                  <a:schemeClr val="bg1"/>
                </a:solidFill>
              </a:rPr>
              <a:t> CPU </a:t>
            </a:r>
            <a:r>
              <a:rPr lang="bg-BG" sz="2000" dirty="0" err="1">
                <a:solidFill>
                  <a:schemeClr val="bg1"/>
                </a:solidFill>
              </a:rPr>
              <a:t>understands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3. </a:t>
            </a:r>
            <a:r>
              <a:rPr lang="bg-BG" sz="2000" dirty="0" err="1">
                <a:solidFill>
                  <a:schemeClr val="bg1"/>
                </a:solidFill>
              </a:rPr>
              <a:t>The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computer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follows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those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instructions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performs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task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A0269-0B94-F8E3-D7F9-28A72D4AC6EB}"/>
              </a:ext>
            </a:extLst>
          </p:cNvPr>
          <p:cNvSpPr txBox="1"/>
          <p:nvPr/>
        </p:nvSpPr>
        <p:spPr>
          <a:xfrm>
            <a:off x="914399" y="4640931"/>
            <a:ext cx="6905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</a:t>
            </a:r>
            <a:r>
              <a:rPr lang="bg-BG" sz="2000" dirty="0" err="1">
                <a:solidFill>
                  <a:schemeClr val="bg1"/>
                </a:solidFill>
              </a:rPr>
              <a:t>rogramming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languages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are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like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bridges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between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human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logic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computer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logic</a:t>
            </a:r>
            <a:r>
              <a:rPr lang="en-US" sz="2000" dirty="0">
                <a:solidFill>
                  <a:schemeClr val="bg1"/>
                </a:solidFill>
              </a:rPr>
              <a:t>!</a:t>
            </a:r>
            <a:endParaRPr lang="bg-B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79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5DA9-433F-BEC9-CCCA-B152CB42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108722ED-5FB9-4CE5-2610-C01DD74F9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E5EC22-1B18-9D35-9F65-304AE0F365DE}"/>
              </a:ext>
            </a:extLst>
          </p:cNvPr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2EE3D-502F-24BC-E945-FCAA6E95338C}"/>
              </a:ext>
            </a:extLst>
          </p:cNvPr>
          <p:cNvSpPr txBox="1"/>
          <p:nvPr/>
        </p:nvSpPr>
        <p:spPr>
          <a:xfrm>
            <a:off x="1021289" y="1904741"/>
            <a:ext cx="293163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2800" dirty="0"/>
              <a:t>3.4 </a:t>
            </a:r>
            <a:r>
              <a:rPr lang="en-US" sz="2800" b="1" dirty="0"/>
              <a:t>A Little History</a:t>
            </a:r>
            <a:endParaRPr lang="bg-BG" sz="2800" b="1" dirty="0"/>
          </a:p>
          <a:p>
            <a:pPr algn="ctr">
              <a:defRPr sz="3200" b="1">
                <a:solidFill>
                  <a:srgbClr val="FFFFFF"/>
                </a:solidFill>
              </a:defRPr>
            </a:pP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BFF5D-770F-6FE9-A196-05A7B6727960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3B6E3-685C-C055-F639-3C0D370267AB}"/>
              </a:ext>
            </a:extLst>
          </p:cNvPr>
          <p:cNvSpPr txBox="1"/>
          <p:nvPr/>
        </p:nvSpPr>
        <p:spPr>
          <a:xfrm>
            <a:off x="914399" y="2582550"/>
            <a:ext cx="614828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bg-BG" sz="2000" dirty="0" err="1">
                <a:solidFill>
                  <a:schemeClr val="bg1"/>
                </a:solidFill>
              </a:rPr>
              <a:t>In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the</a:t>
            </a:r>
            <a:r>
              <a:rPr lang="bg-BG" sz="2000" dirty="0">
                <a:solidFill>
                  <a:schemeClr val="bg1"/>
                </a:solidFill>
              </a:rPr>
              <a:t> 1940s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machine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code</a:t>
            </a:r>
            <a:r>
              <a:rPr lang="en-US" sz="2000" dirty="0">
                <a:solidFill>
                  <a:schemeClr val="bg1"/>
                </a:solidFill>
              </a:rPr>
              <a:t> was used</a:t>
            </a:r>
            <a:r>
              <a:rPr lang="bg-BG" sz="2000" dirty="0">
                <a:solidFill>
                  <a:schemeClr val="bg1"/>
                </a:solidFill>
              </a:rPr>
              <a:t> — </a:t>
            </a:r>
            <a:r>
              <a:rPr lang="bg-BG" sz="2000" dirty="0" err="1">
                <a:solidFill>
                  <a:schemeClr val="bg1"/>
                </a:solidFill>
              </a:rPr>
              <a:t>rows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of</a:t>
            </a:r>
            <a:r>
              <a:rPr lang="bg-BG" sz="2000" dirty="0">
                <a:solidFill>
                  <a:schemeClr val="bg1"/>
                </a:solidFill>
              </a:rPr>
              <a:t> 1s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0s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2EBAF-232E-B9C5-2B44-8256B17563F9}"/>
              </a:ext>
            </a:extLst>
          </p:cNvPr>
          <p:cNvSpPr txBox="1"/>
          <p:nvPr/>
        </p:nvSpPr>
        <p:spPr>
          <a:xfrm>
            <a:off x="914399" y="3933045"/>
            <a:ext cx="6905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err="1">
                <a:solidFill>
                  <a:schemeClr val="bg1"/>
                </a:solidFill>
              </a:rPr>
              <a:t>In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the</a:t>
            </a:r>
            <a:r>
              <a:rPr lang="bg-BG" sz="2000" dirty="0">
                <a:solidFill>
                  <a:schemeClr val="bg1"/>
                </a:solidFill>
              </a:rPr>
              <a:t> 1950s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60s, </a:t>
            </a:r>
            <a:r>
              <a:rPr lang="bg-BG" sz="2000" dirty="0" err="1">
                <a:solidFill>
                  <a:schemeClr val="bg1"/>
                </a:solidFill>
              </a:rPr>
              <a:t>high-level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languages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like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>
                <a:solidFill>
                  <a:schemeClr val="bg1"/>
                </a:solidFill>
              </a:rPr>
              <a:t>FORTRAN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b="1" dirty="0">
                <a:solidFill>
                  <a:schemeClr val="bg1"/>
                </a:solidFill>
              </a:rPr>
              <a:t>COBOL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>
                <a:solidFill>
                  <a:schemeClr val="bg1"/>
                </a:solidFill>
              </a:rPr>
              <a:t>BASIC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appeared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44109-8BC7-2666-2DFC-D6CFCC02F76D}"/>
              </a:ext>
            </a:extLst>
          </p:cNvPr>
          <p:cNvSpPr txBox="1"/>
          <p:nvPr/>
        </p:nvSpPr>
        <p:spPr>
          <a:xfrm>
            <a:off x="914399" y="3275925"/>
            <a:ext cx="77835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bg-BG" sz="2000" dirty="0" err="1">
                <a:solidFill>
                  <a:schemeClr val="bg1"/>
                </a:solidFill>
              </a:rPr>
              <a:t>Then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came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assembly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language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chemeClr val="bg1"/>
                </a:solidFill>
              </a:rPr>
              <a:t>which uses </a:t>
            </a:r>
            <a:r>
              <a:rPr lang="bg-BG" sz="2000" i="1" dirty="0" err="1">
                <a:solidFill>
                  <a:schemeClr val="bg1"/>
                </a:solidFill>
              </a:rPr>
              <a:t>mnemonics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like</a:t>
            </a:r>
            <a:r>
              <a:rPr lang="bg-BG" sz="2000" dirty="0">
                <a:solidFill>
                  <a:schemeClr val="bg1"/>
                </a:solidFill>
              </a:rPr>
              <a:t> ADD </a:t>
            </a:r>
            <a:r>
              <a:rPr lang="bg-BG" sz="2000" dirty="0" err="1">
                <a:solidFill>
                  <a:schemeClr val="bg1"/>
                </a:solidFill>
              </a:rPr>
              <a:t>or</a:t>
            </a:r>
            <a:r>
              <a:rPr lang="bg-BG" sz="2000" dirty="0">
                <a:solidFill>
                  <a:schemeClr val="bg1"/>
                </a:solidFill>
              </a:rPr>
              <a:t> JUMP.</a:t>
            </a:r>
            <a:endParaRPr lang="bg-B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631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AE857-C9CA-A4E2-2A45-94A632BC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5DEBABF6-1157-8F99-6DEA-0EC005157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9780D5-7AF0-211D-4121-19426C6453B4}"/>
              </a:ext>
            </a:extLst>
          </p:cNvPr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D0F8F-33C1-0470-8917-F8A7DB296A0F}"/>
              </a:ext>
            </a:extLst>
          </p:cNvPr>
          <p:cNvSpPr txBox="1"/>
          <p:nvPr/>
        </p:nvSpPr>
        <p:spPr>
          <a:xfrm>
            <a:off x="914399" y="1887657"/>
            <a:ext cx="468577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3.5 </a:t>
            </a:r>
            <a:r>
              <a:rPr lang="bg-BG" sz="2400" b="1" dirty="0" err="1">
                <a:solidFill>
                  <a:schemeClr val="bg1"/>
                </a:solidFill>
              </a:rPr>
              <a:t>Examples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of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Modern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Languages</a:t>
            </a:r>
            <a:endParaRPr lang="bg-BG" sz="24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FFFFFF"/>
                </a:solidFill>
              </a:defRPr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53878-8CC2-9CBC-4D7E-C539FB882CBB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5F127-A809-FD13-940C-003F79A2A9EF}"/>
              </a:ext>
            </a:extLst>
          </p:cNvPr>
          <p:cNvSpPr txBox="1"/>
          <p:nvPr/>
        </p:nvSpPr>
        <p:spPr>
          <a:xfrm>
            <a:off x="914399" y="2332568"/>
            <a:ext cx="8375691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bg-BG" sz="2000" b="1" dirty="0" err="1">
                <a:solidFill>
                  <a:schemeClr val="bg1"/>
                </a:solidFill>
              </a:rPr>
              <a:t>Python</a:t>
            </a:r>
            <a:r>
              <a:rPr lang="bg-BG" sz="2000" dirty="0">
                <a:solidFill>
                  <a:schemeClr val="bg1"/>
                </a:solidFill>
              </a:rPr>
              <a:t> – </a:t>
            </a:r>
            <a:r>
              <a:rPr lang="bg-BG" sz="2000" dirty="0" err="1">
                <a:solidFill>
                  <a:schemeClr val="bg1"/>
                </a:solidFill>
              </a:rPr>
              <a:t>Easy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to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learn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great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for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beginners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used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</a:t>
            </a:r>
            <a:r>
              <a:rPr lang="bg-BG" sz="2000" dirty="0">
                <a:solidFill>
                  <a:schemeClr val="bg1"/>
                </a:solidFill>
              </a:rPr>
              <a:t> AI, </a:t>
            </a:r>
            <a:r>
              <a:rPr lang="bg-BG" sz="2000" dirty="0" err="1">
                <a:solidFill>
                  <a:schemeClr val="bg1"/>
                </a:solidFill>
              </a:rPr>
              <a:t>data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web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apps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pPr lvl="0"/>
            <a:r>
              <a:rPr lang="bg-BG" sz="2000" b="1" dirty="0" err="1">
                <a:solidFill>
                  <a:schemeClr val="bg1"/>
                </a:solidFill>
              </a:rPr>
              <a:t>JavaScript</a:t>
            </a:r>
            <a:r>
              <a:rPr lang="bg-BG" sz="2000" dirty="0">
                <a:solidFill>
                  <a:schemeClr val="bg1"/>
                </a:solidFill>
              </a:rPr>
              <a:t> – </a:t>
            </a:r>
            <a:r>
              <a:rPr lang="bg-BG" sz="2000" dirty="0" err="1">
                <a:solidFill>
                  <a:schemeClr val="bg1"/>
                </a:solidFill>
              </a:rPr>
              <a:t>Runs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websites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web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apps</a:t>
            </a:r>
            <a:r>
              <a:rPr lang="bg-BG" sz="2000" dirty="0">
                <a:solidFill>
                  <a:schemeClr val="bg1"/>
                </a:solidFill>
              </a:rPr>
              <a:t>; </a:t>
            </a:r>
            <a:r>
              <a:rPr lang="bg-BG" sz="2000" dirty="0" err="1">
                <a:solidFill>
                  <a:schemeClr val="bg1"/>
                </a:solidFill>
              </a:rPr>
              <a:t>everything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interactive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online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uses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it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pPr lvl="0"/>
            <a:r>
              <a:rPr lang="bg-BG" sz="2000" b="1" dirty="0">
                <a:solidFill>
                  <a:schemeClr val="bg1"/>
                </a:solidFill>
              </a:rPr>
              <a:t>C / C++</a:t>
            </a:r>
            <a:r>
              <a:rPr lang="bg-BG" sz="2000" dirty="0">
                <a:solidFill>
                  <a:schemeClr val="bg1"/>
                </a:solidFill>
              </a:rPr>
              <a:t> – </a:t>
            </a:r>
            <a:r>
              <a:rPr lang="bg-BG" sz="2000" dirty="0" err="1">
                <a:solidFill>
                  <a:schemeClr val="bg1"/>
                </a:solidFill>
              </a:rPr>
              <a:t>Very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fast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powerful</a:t>
            </a:r>
            <a:r>
              <a:rPr lang="bg-BG" sz="2000" dirty="0">
                <a:solidFill>
                  <a:schemeClr val="bg1"/>
                </a:solidFill>
              </a:rPr>
              <a:t>; </a:t>
            </a:r>
            <a:r>
              <a:rPr lang="bg-BG" sz="2000" dirty="0" err="1">
                <a:solidFill>
                  <a:schemeClr val="bg1"/>
                </a:solidFill>
              </a:rPr>
              <a:t>used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systems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games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r>
              <a:rPr lang="bg-BG" sz="2000" dirty="0" err="1">
                <a:solidFill>
                  <a:schemeClr val="bg1"/>
                </a:solidFill>
              </a:rPr>
              <a:t>embedded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devices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pPr lvl="0"/>
            <a:r>
              <a:rPr lang="bg-BG" sz="2000" b="1" dirty="0">
                <a:solidFill>
                  <a:schemeClr val="bg1"/>
                </a:solidFill>
              </a:rPr>
              <a:t>Java</a:t>
            </a:r>
            <a:r>
              <a:rPr lang="bg-BG" sz="2000" dirty="0">
                <a:solidFill>
                  <a:schemeClr val="bg1"/>
                </a:solidFill>
              </a:rPr>
              <a:t> – </a:t>
            </a:r>
            <a:r>
              <a:rPr lang="bg-BG" sz="2000" dirty="0" err="1">
                <a:solidFill>
                  <a:schemeClr val="bg1"/>
                </a:solidFill>
              </a:rPr>
              <a:t>Powers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Android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apps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many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large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systems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pPr lvl="0"/>
            <a:r>
              <a:rPr lang="bg-BG" sz="2000" b="1" dirty="0" err="1">
                <a:solidFill>
                  <a:schemeClr val="bg1"/>
                </a:solidFill>
              </a:rPr>
              <a:t>Rust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b="1" dirty="0">
                <a:solidFill>
                  <a:schemeClr val="bg1"/>
                </a:solidFill>
              </a:rPr>
              <a:t>Go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b="1" dirty="0">
                <a:solidFill>
                  <a:schemeClr val="bg1"/>
                </a:solidFill>
              </a:rPr>
              <a:t>Swift</a:t>
            </a:r>
            <a:r>
              <a:rPr lang="bg-BG" sz="2000" dirty="0">
                <a:solidFill>
                  <a:schemeClr val="bg1"/>
                </a:solidFill>
              </a:rPr>
              <a:t> – </a:t>
            </a:r>
            <a:r>
              <a:rPr lang="bg-BG" sz="2000" dirty="0" err="1">
                <a:solidFill>
                  <a:schemeClr val="bg1"/>
                </a:solidFill>
              </a:rPr>
              <a:t>Modern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languages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built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for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safety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speed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and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simplicity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74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584F-0490-769E-6BA1-3584D01E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A623A1B7-785F-8B7D-74EE-BA27D2BC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EF762-66C2-B3A4-C5A3-29EA9A9629C4}"/>
              </a:ext>
            </a:extLst>
          </p:cNvPr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AC81A-9B84-C213-9630-FE185D1235E3}"/>
              </a:ext>
            </a:extLst>
          </p:cNvPr>
          <p:cNvSpPr txBox="1"/>
          <p:nvPr/>
        </p:nvSpPr>
        <p:spPr>
          <a:xfrm>
            <a:off x="2169267" y="2951946"/>
            <a:ext cx="517314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3.5 Why so Many Languages?</a:t>
            </a:r>
            <a:endParaRPr lang="bg-BG" sz="32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FFFFFF"/>
                </a:solidFill>
              </a:defRPr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FD6C6-0540-67B5-A45D-13A4AFD2E136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403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BBD1-5A80-4C6F-E729-4C8AA34BF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AE41A2EC-4BB3-64D0-FB81-0B8FB63B7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600BD2-52BA-102F-5626-A70288956553}"/>
              </a:ext>
            </a:extLst>
          </p:cNvPr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5DC700-18F8-9E1B-EDDC-B79E5782D8CD}"/>
              </a:ext>
            </a:extLst>
          </p:cNvPr>
          <p:cNvSpPr txBox="1"/>
          <p:nvPr/>
        </p:nvSpPr>
        <p:spPr>
          <a:xfrm>
            <a:off x="1448835" y="2874125"/>
            <a:ext cx="6586227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3.5 </a:t>
            </a:r>
            <a:r>
              <a:rPr lang="bg-BG" sz="2800" b="1" dirty="0" err="1">
                <a:solidFill>
                  <a:schemeClr val="bg1"/>
                </a:solidFill>
              </a:rPr>
              <a:t>Why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Programming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Languages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Matter</a:t>
            </a:r>
            <a:r>
              <a:rPr lang="en-US" sz="2800" b="1" dirty="0">
                <a:solidFill>
                  <a:schemeClr val="bg1"/>
                </a:solidFill>
              </a:rPr>
              <a:t> ?</a:t>
            </a:r>
            <a:endParaRPr lang="bg-BG" sz="28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FFFFFF"/>
                </a:solidFill>
              </a:defRPr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8FBE3-AEE3-DFB9-E158-E54CB18CA15E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2011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AC3F-0E8A-AD82-9F7F-B0189922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80F040BA-2684-87EA-454B-AF261CB8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2ABF6A-2B9D-088A-79BF-F816A29462FB}"/>
              </a:ext>
            </a:extLst>
          </p:cNvPr>
          <p:cNvSpPr txBox="1"/>
          <p:nvPr/>
        </p:nvSpPr>
        <p:spPr>
          <a:xfrm>
            <a:off x="3445119" y="708764"/>
            <a:ext cx="4512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3 – What is a 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Programming Language?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E6993-95BD-58B0-C18C-BB4EE389F824}"/>
              </a:ext>
            </a:extLst>
          </p:cNvPr>
          <p:cNvSpPr txBox="1"/>
          <p:nvPr/>
        </p:nvSpPr>
        <p:spPr>
          <a:xfrm>
            <a:off x="3120384" y="3085661"/>
            <a:ext cx="290323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3.5 Final Thoughts</a:t>
            </a:r>
            <a:endParaRPr lang="bg-BG" sz="2800" dirty="0">
              <a:solidFill>
                <a:schemeClr val="bg1"/>
              </a:solidFill>
            </a:endParaRPr>
          </a:p>
          <a:p>
            <a:pPr algn="ctr">
              <a:defRPr sz="3200" b="1">
                <a:solidFill>
                  <a:srgbClr val="FFFFFF"/>
                </a:solidFill>
              </a:defRPr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DC4CE-7F15-C0A7-0F2E-40C47B152265}"/>
              </a:ext>
            </a:extLst>
          </p:cNvPr>
          <p:cNvSpPr txBox="1"/>
          <p:nvPr/>
        </p:nvSpPr>
        <p:spPr>
          <a:xfrm>
            <a:off x="2608539" y="5690681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199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425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 Milushev</cp:lastModifiedBy>
  <cp:revision>2</cp:revision>
  <dcterms:created xsi:type="dcterms:W3CDTF">2013-01-27T09:14:16Z</dcterms:created>
  <dcterms:modified xsi:type="dcterms:W3CDTF">2025-11-04T10:56:35Z</dcterms:modified>
  <cp:category/>
</cp:coreProperties>
</file>