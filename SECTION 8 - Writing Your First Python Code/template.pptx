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A13D-CED6-4BEF-2B6D-ACE4A8C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1011C98A-DA92-555A-1CA5-47B35A63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77CC93-A9D3-0AC8-BA98-F4499DFF84B4}"/>
              </a:ext>
            </a:extLst>
          </p:cNvPr>
          <p:cNvSpPr txBox="1"/>
          <p:nvPr/>
        </p:nvSpPr>
        <p:spPr>
          <a:xfrm>
            <a:off x="2519463" y="2521138"/>
            <a:ext cx="510928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SECTION 8 – Writing Your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       First Python Code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CC040-881E-9D41-78A9-243A37811987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539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7132" y="914400"/>
            <a:ext cx="393671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8 – Writing Your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First Python Code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9980"/>
            <a:ext cx="38865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2800" dirty="0"/>
              <a:t>8.1 Running the Program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3129117"/>
            <a:ext cx="6118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lang="bg-BG" sz="2400" b="1" dirty="0"/>
              <a:t>▶️ </a:t>
            </a:r>
            <a:r>
              <a:rPr lang="bg-BG" sz="2400" dirty="0" err="1"/>
              <a:t>Method</a:t>
            </a:r>
            <a:r>
              <a:rPr lang="bg-BG" sz="2400" dirty="0"/>
              <a:t> 1: </a:t>
            </a:r>
            <a:r>
              <a:rPr lang="bg-BG" sz="2400" dirty="0" err="1"/>
              <a:t>Using</a:t>
            </a:r>
            <a:r>
              <a:rPr lang="bg-BG" sz="2400" dirty="0"/>
              <a:t> </a:t>
            </a:r>
            <a:r>
              <a:rPr lang="bg-BG" sz="2400" dirty="0" err="1"/>
              <a:t>the</a:t>
            </a:r>
            <a:r>
              <a:rPr lang="bg-BG" sz="2400" dirty="0"/>
              <a:t> </a:t>
            </a:r>
            <a:r>
              <a:rPr lang="bg-BG" sz="2400" dirty="0" err="1"/>
              <a:t>Run</a:t>
            </a:r>
            <a:r>
              <a:rPr lang="bg-BG" sz="2400" dirty="0"/>
              <a:t> </a:t>
            </a:r>
            <a:r>
              <a:rPr lang="bg-BG" sz="2400" dirty="0" err="1"/>
              <a:t>Button</a:t>
            </a:r>
            <a:endParaRPr lang="bg-BG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7AE90-6A09-B464-FFFF-98FB676CCF5E}"/>
              </a:ext>
            </a:extLst>
          </p:cNvPr>
          <p:cNvSpPr txBox="1"/>
          <p:nvPr/>
        </p:nvSpPr>
        <p:spPr>
          <a:xfrm>
            <a:off x="914400" y="3949350"/>
            <a:ext cx="6118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400" b="1" dirty="0">
                <a:solidFill>
                  <a:schemeClr val="bg1"/>
                </a:solidFill>
              </a:rPr>
              <a:t>💻 </a:t>
            </a:r>
            <a:r>
              <a:rPr lang="bg-BG" sz="2400" dirty="0" err="1">
                <a:solidFill>
                  <a:schemeClr val="bg1"/>
                </a:solidFill>
              </a:rPr>
              <a:t>Method</a:t>
            </a:r>
            <a:r>
              <a:rPr lang="bg-BG" sz="2400" dirty="0">
                <a:solidFill>
                  <a:schemeClr val="bg1"/>
                </a:solidFill>
              </a:rPr>
              <a:t> 2: </a:t>
            </a:r>
            <a:r>
              <a:rPr lang="bg-BG" sz="2400" dirty="0" err="1">
                <a:solidFill>
                  <a:schemeClr val="bg1"/>
                </a:solidFill>
              </a:rPr>
              <a:t>Using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the</a:t>
            </a:r>
            <a:r>
              <a:rPr lang="bg-BG" sz="2400" dirty="0">
                <a:solidFill>
                  <a:schemeClr val="bg1"/>
                </a:solidFill>
              </a:rPr>
              <a:t> Terminal</a:t>
            </a:r>
            <a:endParaRPr lang="bg-BG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0BE1-4A5A-FCA8-1111-3558A038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04E1C904-205A-A9A8-22D6-99DCA1AC6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1B964D-107D-93B7-C055-713F96F7D94A}"/>
              </a:ext>
            </a:extLst>
          </p:cNvPr>
          <p:cNvSpPr txBox="1"/>
          <p:nvPr/>
        </p:nvSpPr>
        <p:spPr>
          <a:xfrm>
            <a:off x="3317132" y="914400"/>
            <a:ext cx="393671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8 – Writing Your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First Python Code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4EAC9-AEEC-1835-0760-8A3C7C2AF5DB}"/>
              </a:ext>
            </a:extLst>
          </p:cNvPr>
          <p:cNvSpPr txBox="1"/>
          <p:nvPr/>
        </p:nvSpPr>
        <p:spPr>
          <a:xfrm>
            <a:off x="1077078" y="2233216"/>
            <a:ext cx="24192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3200" dirty="0"/>
              <a:t>8.3 Examples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01B8A-2BA0-4BBB-B60E-23DD0560D13E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9D0A0-D3FA-51ED-0829-31A5F3ABEFBE}"/>
              </a:ext>
            </a:extLst>
          </p:cNvPr>
          <p:cNvSpPr txBox="1"/>
          <p:nvPr/>
        </p:nvSpPr>
        <p:spPr>
          <a:xfrm>
            <a:off x="1077078" y="3082233"/>
            <a:ext cx="45752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</a:t>
            </a:r>
            <a:r>
              <a:rPr lang="bg-BG" sz="2400" dirty="0" err="1">
                <a:solidFill>
                  <a:schemeClr val="bg1"/>
                </a:solidFill>
              </a:rPr>
              <a:t>rint</a:t>
            </a:r>
            <a:r>
              <a:rPr lang="bg-BG" sz="2400" dirty="0">
                <a:solidFill>
                  <a:schemeClr val="bg1"/>
                </a:solidFill>
              </a:rPr>
              <a:t>("</a:t>
            </a:r>
            <a:r>
              <a:rPr lang="bg-BG" sz="2400" dirty="0" err="1">
                <a:solidFill>
                  <a:schemeClr val="bg1"/>
                </a:solidFill>
              </a:rPr>
              <a:t>Hello</a:t>
            </a:r>
            <a:r>
              <a:rPr lang="bg-BG" sz="2400" dirty="0">
                <a:solidFill>
                  <a:schemeClr val="bg1"/>
                </a:solidFill>
              </a:rPr>
              <a:t>, </a:t>
            </a:r>
            <a:r>
              <a:rPr lang="bg-BG" sz="2400" dirty="0" err="1">
                <a:solidFill>
                  <a:schemeClr val="bg1"/>
                </a:solidFill>
              </a:rPr>
              <a:t>Python</a:t>
            </a:r>
            <a:r>
              <a:rPr lang="bg-BG" sz="2400" dirty="0">
                <a:solidFill>
                  <a:schemeClr val="bg1"/>
                </a:solidFill>
              </a:rPr>
              <a:t>!")</a:t>
            </a:r>
            <a:endParaRPr lang="en-US" sz="2400" dirty="0">
              <a:solidFill>
                <a:schemeClr val="bg1"/>
              </a:solidFill>
            </a:endParaRPr>
          </a:p>
          <a:p>
            <a:endParaRPr lang="bg-BG" sz="2400" dirty="0">
              <a:solidFill>
                <a:schemeClr val="bg1"/>
              </a:solidFill>
            </a:endParaRPr>
          </a:p>
          <a:p>
            <a:r>
              <a:rPr lang="bg-BG" sz="2400" dirty="0" err="1">
                <a:solidFill>
                  <a:schemeClr val="bg1"/>
                </a:solidFill>
              </a:rPr>
              <a:t>print</a:t>
            </a:r>
            <a:r>
              <a:rPr lang="bg-BG" sz="2400" dirty="0">
                <a:solidFill>
                  <a:schemeClr val="bg1"/>
                </a:solidFill>
              </a:rPr>
              <a:t>("</a:t>
            </a:r>
            <a:r>
              <a:rPr lang="bg-BG" sz="2400" dirty="0" err="1">
                <a:solidFill>
                  <a:schemeClr val="bg1"/>
                </a:solidFill>
              </a:rPr>
              <a:t>My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name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is</a:t>
            </a:r>
            <a:r>
              <a:rPr lang="bg-BG" sz="2400" dirty="0">
                <a:solidFill>
                  <a:schemeClr val="bg1"/>
                </a:solidFill>
              </a:rPr>
              <a:t> [</a:t>
            </a:r>
            <a:r>
              <a:rPr lang="bg-BG" sz="2400" dirty="0" err="1">
                <a:solidFill>
                  <a:schemeClr val="bg1"/>
                </a:solidFill>
              </a:rPr>
              <a:t>Your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Name</a:t>
            </a:r>
            <a:r>
              <a:rPr lang="bg-BG" sz="2400" dirty="0">
                <a:solidFill>
                  <a:schemeClr val="bg1"/>
                </a:solidFill>
              </a:rPr>
              <a:t>]!")</a:t>
            </a:r>
            <a:endParaRPr lang="en-US" sz="2400" dirty="0">
              <a:solidFill>
                <a:schemeClr val="bg1"/>
              </a:solidFill>
            </a:endParaRPr>
          </a:p>
          <a:p>
            <a:endParaRPr lang="bg-BG" sz="2400" dirty="0">
              <a:solidFill>
                <a:schemeClr val="bg1"/>
              </a:solidFill>
            </a:endParaRPr>
          </a:p>
          <a:p>
            <a:r>
              <a:rPr lang="bg-BG" sz="2400" dirty="0" err="1">
                <a:solidFill>
                  <a:schemeClr val="bg1"/>
                </a:solidFill>
              </a:rPr>
              <a:t>print</a:t>
            </a:r>
            <a:r>
              <a:rPr lang="bg-BG" sz="2400" dirty="0">
                <a:solidFill>
                  <a:schemeClr val="bg1"/>
                </a:solidFill>
              </a:rPr>
              <a:t>("</a:t>
            </a:r>
            <a:r>
              <a:rPr lang="bg-BG" sz="2400" dirty="0" err="1">
                <a:solidFill>
                  <a:schemeClr val="bg1"/>
                </a:solidFill>
              </a:rPr>
              <a:t>I’m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learning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programming</a:t>
            </a:r>
            <a:r>
              <a:rPr lang="bg-BG" sz="2400" dirty="0">
                <a:solidFill>
                  <a:schemeClr val="bg1"/>
                </a:solidFill>
              </a:rPr>
              <a:t>!")</a:t>
            </a:r>
          </a:p>
          <a:p>
            <a:endParaRPr lang="bg-BG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21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217D-5BCD-AD04-5536-87884511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71B460E6-CE09-DB7D-EC8F-C87E9C37A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EC893F-0908-1B49-DBC8-F33929112F97}"/>
              </a:ext>
            </a:extLst>
          </p:cNvPr>
          <p:cNvSpPr txBox="1"/>
          <p:nvPr/>
        </p:nvSpPr>
        <p:spPr>
          <a:xfrm>
            <a:off x="3317132" y="914400"/>
            <a:ext cx="393671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8 – Writing Your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First Python Code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47F9C-C443-C423-C4BF-AA0D035C504A}"/>
              </a:ext>
            </a:extLst>
          </p:cNvPr>
          <p:cNvSpPr txBox="1"/>
          <p:nvPr/>
        </p:nvSpPr>
        <p:spPr>
          <a:xfrm>
            <a:off x="965668" y="2233216"/>
            <a:ext cx="26420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3200" dirty="0"/>
              <a:t>8.4 Comments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B647C8-D59B-B4B9-02A5-2610D671C694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68A49-587E-31D3-82A1-8C6BA99C117A}"/>
              </a:ext>
            </a:extLst>
          </p:cNvPr>
          <p:cNvSpPr txBox="1"/>
          <p:nvPr/>
        </p:nvSpPr>
        <p:spPr>
          <a:xfrm>
            <a:off x="1077078" y="3082233"/>
            <a:ext cx="506420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 err="1">
                <a:solidFill>
                  <a:schemeClr val="bg1"/>
                </a:solidFill>
              </a:rPr>
              <a:t>Example</a:t>
            </a:r>
            <a:r>
              <a:rPr lang="bg-BG" sz="2400" dirty="0">
                <a:solidFill>
                  <a:schemeClr val="bg1"/>
                </a:solidFill>
              </a:rPr>
              <a:t>:</a:t>
            </a:r>
            <a:endParaRPr lang="en-US" sz="2400" dirty="0">
              <a:solidFill>
                <a:schemeClr val="bg1"/>
              </a:solidFill>
            </a:endParaRPr>
          </a:p>
          <a:p>
            <a:endParaRPr lang="bg-BG" sz="2400" dirty="0">
              <a:solidFill>
                <a:schemeClr val="bg1"/>
              </a:solidFill>
            </a:endParaRPr>
          </a:p>
          <a:p>
            <a:r>
              <a:rPr lang="bg-BG" sz="2400" dirty="0">
                <a:solidFill>
                  <a:schemeClr val="bg1"/>
                </a:solidFill>
              </a:rPr>
              <a:t># </a:t>
            </a:r>
            <a:r>
              <a:rPr lang="bg-BG" sz="2400" dirty="0" err="1">
                <a:solidFill>
                  <a:schemeClr val="bg1"/>
                </a:solidFill>
              </a:rPr>
              <a:t>This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program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prints</a:t>
            </a:r>
            <a:r>
              <a:rPr lang="bg-BG" sz="2400" dirty="0">
                <a:solidFill>
                  <a:schemeClr val="bg1"/>
                </a:solidFill>
              </a:rPr>
              <a:t> a </a:t>
            </a:r>
            <a:r>
              <a:rPr lang="bg-BG" sz="2400" dirty="0" err="1">
                <a:solidFill>
                  <a:schemeClr val="bg1"/>
                </a:solidFill>
              </a:rPr>
              <a:t>simple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greeting</a:t>
            </a:r>
            <a:endParaRPr lang="en-US" sz="2400" dirty="0">
              <a:solidFill>
                <a:schemeClr val="bg1"/>
              </a:solidFill>
            </a:endParaRPr>
          </a:p>
          <a:p>
            <a:endParaRPr lang="bg-BG" sz="2400" dirty="0">
              <a:solidFill>
                <a:schemeClr val="bg1"/>
              </a:solidFill>
            </a:endParaRPr>
          </a:p>
          <a:p>
            <a:r>
              <a:rPr lang="bg-BG" sz="2400" dirty="0" err="1">
                <a:solidFill>
                  <a:schemeClr val="bg1"/>
                </a:solidFill>
              </a:rPr>
              <a:t>print</a:t>
            </a:r>
            <a:r>
              <a:rPr lang="bg-BG" sz="2400" dirty="0">
                <a:solidFill>
                  <a:schemeClr val="bg1"/>
                </a:solidFill>
              </a:rPr>
              <a:t>("</a:t>
            </a:r>
            <a:r>
              <a:rPr lang="bg-BG" sz="2400" dirty="0" err="1">
                <a:solidFill>
                  <a:schemeClr val="bg1"/>
                </a:solidFill>
              </a:rPr>
              <a:t>Hello</a:t>
            </a:r>
            <a:r>
              <a:rPr lang="bg-BG" sz="2400" dirty="0">
                <a:solidFill>
                  <a:schemeClr val="bg1"/>
                </a:solidFill>
              </a:rPr>
              <a:t>, </a:t>
            </a:r>
            <a:r>
              <a:rPr lang="bg-BG" sz="2400" dirty="0" err="1">
                <a:solidFill>
                  <a:schemeClr val="bg1"/>
                </a:solidFill>
              </a:rPr>
              <a:t>world</a:t>
            </a:r>
            <a:r>
              <a:rPr lang="bg-BG" sz="2400" dirty="0">
                <a:solidFill>
                  <a:schemeClr val="bg1"/>
                </a:solidFill>
              </a:rPr>
              <a:t>!")</a:t>
            </a:r>
          </a:p>
          <a:p>
            <a:endParaRPr lang="bg-BG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62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4D00-44B9-2E65-9388-F854E22E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5C005CB5-17C9-A4F3-F6DF-0E916F32B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4CE3CA-BE88-9A67-C826-1EAE9B2115AE}"/>
              </a:ext>
            </a:extLst>
          </p:cNvPr>
          <p:cNvSpPr txBox="1"/>
          <p:nvPr/>
        </p:nvSpPr>
        <p:spPr>
          <a:xfrm>
            <a:off x="3317132" y="914400"/>
            <a:ext cx="393671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8 – Writing Your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First Python Code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ED527-E4FE-8291-AA9A-3029F501D4CD}"/>
              </a:ext>
            </a:extLst>
          </p:cNvPr>
          <p:cNvSpPr txBox="1"/>
          <p:nvPr/>
        </p:nvSpPr>
        <p:spPr>
          <a:xfrm>
            <a:off x="1676486" y="3273357"/>
            <a:ext cx="48974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3200" dirty="0"/>
              <a:t>8.5 Understanding the Flow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1C0E3-A354-B952-84F4-493ECA3CEA02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789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F4CF-2749-CD99-7088-3F2C1448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455823CA-5813-2AE5-2FF1-2C5269ACA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CA12CD-750A-0D20-D2EC-EB956BA90307}"/>
              </a:ext>
            </a:extLst>
          </p:cNvPr>
          <p:cNvSpPr txBox="1"/>
          <p:nvPr/>
        </p:nvSpPr>
        <p:spPr>
          <a:xfrm>
            <a:off x="3317132" y="914400"/>
            <a:ext cx="393671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8 – Writing Your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First Python Code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E0E81-BB45-E3E4-037D-B656886BB230}"/>
              </a:ext>
            </a:extLst>
          </p:cNvPr>
          <p:cNvSpPr txBox="1"/>
          <p:nvPr/>
        </p:nvSpPr>
        <p:spPr>
          <a:xfrm>
            <a:off x="2925555" y="3195935"/>
            <a:ext cx="32928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3200" dirty="0"/>
              <a:t>8.6 Final Thoughts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C7E09-411B-6996-9F58-E4EFA3CF199B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4066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169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 Milushev</cp:lastModifiedBy>
  <cp:revision>2</cp:revision>
  <dcterms:created xsi:type="dcterms:W3CDTF">2013-01-27T09:14:16Z</dcterms:created>
  <dcterms:modified xsi:type="dcterms:W3CDTF">2025-11-05T11:12:56Z</dcterms:modified>
  <cp:category/>
</cp:coreProperties>
</file>