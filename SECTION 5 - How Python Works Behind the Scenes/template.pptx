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23769-6EA4-4D70-BB3E-D3931EACF045}" type="datetimeFigureOut">
              <a:rPr lang="bg-BG" smtClean="0"/>
              <a:t>5.11.2025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9E0D-CFD0-4499-9B71-4D451D882AC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701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85607" y="2828835"/>
            <a:ext cx="629294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SECTION 5 – How Python Works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       Behind the Scenes?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05821" y="5699133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312E-6DC8-B581-8E66-840F2DE6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FC62C93B-F058-7D76-70A1-2E32DAD8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58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05E11-CB6E-81C1-7F63-66A0451DD59F}"/>
              </a:ext>
            </a:extLst>
          </p:cNvPr>
          <p:cNvSpPr txBox="1"/>
          <p:nvPr/>
        </p:nvSpPr>
        <p:spPr>
          <a:xfrm>
            <a:off x="3191139" y="760831"/>
            <a:ext cx="49383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5 – How Python Works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  Behind the Scenes?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D77F6-78FF-075C-E550-17C04A8453A7}"/>
              </a:ext>
            </a:extLst>
          </p:cNvPr>
          <p:cNvSpPr txBox="1"/>
          <p:nvPr/>
        </p:nvSpPr>
        <p:spPr>
          <a:xfrm>
            <a:off x="839687" y="1941227"/>
            <a:ext cx="6322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5.1 </a:t>
            </a:r>
            <a:r>
              <a:rPr lang="bg-BG" sz="2800" b="1" dirty="0" err="1"/>
              <a:t>It</a:t>
            </a:r>
            <a:r>
              <a:rPr lang="bg-BG" sz="2800" b="1" dirty="0"/>
              <a:t> </a:t>
            </a:r>
            <a:r>
              <a:rPr lang="bg-BG" sz="2800" b="1" dirty="0" err="1"/>
              <a:t>Starts</a:t>
            </a:r>
            <a:r>
              <a:rPr lang="bg-BG" sz="2800" b="1" dirty="0"/>
              <a:t> </a:t>
            </a:r>
            <a:r>
              <a:rPr lang="bg-BG" sz="2800" b="1" dirty="0" err="1"/>
              <a:t>With</a:t>
            </a:r>
            <a:r>
              <a:rPr lang="bg-BG" sz="2800" b="1" dirty="0"/>
              <a:t> </a:t>
            </a:r>
            <a:r>
              <a:rPr lang="bg-BG" sz="2800" b="1" dirty="0" err="1"/>
              <a:t>You</a:t>
            </a:r>
            <a:r>
              <a:rPr lang="bg-BG" sz="2800" b="1" dirty="0"/>
              <a:t> — </a:t>
            </a:r>
            <a:r>
              <a:rPr lang="bg-BG" sz="2800" b="1" dirty="0" err="1"/>
              <a:t>The</a:t>
            </a:r>
            <a:r>
              <a:rPr lang="bg-BG" sz="2800" b="1" dirty="0"/>
              <a:t> </a:t>
            </a:r>
            <a:r>
              <a:rPr lang="bg-BG" sz="2800" b="1" dirty="0" err="1"/>
              <a:t>Programmer</a:t>
            </a:r>
            <a:endParaRPr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42A89-69AD-18A2-3BD0-72598D8F7EFA}"/>
              </a:ext>
            </a:extLst>
          </p:cNvPr>
          <p:cNvSpPr txBox="1"/>
          <p:nvPr/>
        </p:nvSpPr>
        <p:spPr>
          <a:xfrm>
            <a:off x="2705821" y="5869900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39887-0BD9-CD65-573D-F85A5F903B32}"/>
              </a:ext>
            </a:extLst>
          </p:cNvPr>
          <p:cNvSpPr txBox="1"/>
          <p:nvPr/>
        </p:nvSpPr>
        <p:spPr>
          <a:xfrm>
            <a:off x="1264596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FC982-42F7-81E2-256B-3EEE213B2322}"/>
              </a:ext>
            </a:extLst>
          </p:cNvPr>
          <p:cNvSpPr txBox="1"/>
          <p:nvPr/>
        </p:nvSpPr>
        <p:spPr>
          <a:xfrm>
            <a:off x="966147" y="2512740"/>
            <a:ext cx="5447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 err="1">
                <a:solidFill>
                  <a:schemeClr val="bg2"/>
                </a:solidFill>
              </a:rPr>
              <a:t>Step</a:t>
            </a:r>
            <a:r>
              <a:rPr lang="bg-BG" sz="2000" b="1" dirty="0">
                <a:solidFill>
                  <a:schemeClr val="bg2"/>
                </a:solidFill>
              </a:rPr>
              <a:t> 1:You </a:t>
            </a:r>
            <a:r>
              <a:rPr lang="bg-BG" sz="2000" b="1" dirty="0" err="1">
                <a:solidFill>
                  <a:schemeClr val="bg2"/>
                </a:solidFill>
              </a:rPr>
              <a:t>Write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Python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Code</a:t>
            </a:r>
            <a:endParaRPr lang="bg-BG" sz="2000" dirty="0">
              <a:solidFill>
                <a:schemeClr val="bg2"/>
              </a:solidFill>
            </a:endParaRPr>
          </a:p>
          <a:p>
            <a:endParaRPr lang="bg-BG" sz="20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E769A-E934-27C2-5699-8C029F84C833}"/>
              </a:ext>
            </a:extLst>
          </p:cNvPr>
          <p:cNvSpPr txBox="1"/>
          <p:nvPr/>
        </p:nvSpPr>
        <p:spPr>
          <a:xfrm>
            <a:off x="966147" y="3048959"/>
            <a:ext cx="463101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b="1" dirty="0" err="1">
                <a:solidFill>
                  <a:schemeClr val="bg2"/>
                </a:solidFill>
              </a:rPr>
              <a:t>Step</a:t>
            </a:r>
            <a:r>
              <a:rPr lang="bg-BG" sz="2000" b="1" dirty="0">
                <a:solidFill>
                  <a:schemeClr val="bg2"/>
                </a:solidFill>
              </a:rPr>
              <a:t> 2: </a:t>
            </a:r>
            <a:r>
              <a:rPr lang="bg-BG" sz="2000" b="1" dirty="0" err="1">
                <a:solidFill>
                  <a:schemeClr val="bg2"/>
                </a:solidFill>
              </a:rPr>
              <a:t>The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Python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Interpreter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Takes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bg-BG" sz="2000" b="1" dirty="0" err="1">
                <a:solidFill>
                  <a:schemeClr val="bg2"/>
                </a:solidFill>
              </a:rPr>
              <a:t>Over</a:t>
            </a:r>
            <a:endParaRPr lang="bg-BG" sz="2000" dirty="0">
              <a:solidFill>
                <a:schemeClr val="bg2"/>
              </a:solidFill>
            </a:endParaRPr>
          </a:p>
          <a:p>
            <a:endParaRPr lang="bg-BG" sz="2800" dirty="0">
              <a:solidFill>
                <a:schemeClr val="bg2"/>
              </a:solidFill>
            </a:endParaRPr>
          </a:p>
          <a:p>
            <a:endParaRPr lang="bg-BG" sz="28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1A558-5ACB-5360-3218-EBAA38413857}"/>
              </a:ext>
            </a:extLst>
          </p:cNvPr>
          <p:cNvSpPr txBox="1"/>
          <p:nvPr/>
        </p:nvSpPr>
        <p:spPr>
          <a:xfrm>
            <a:off x="961605" y="3579218"/>
            <a:ext cx="464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Step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3: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Translation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—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From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Code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to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Bytecode</a:t>
            </a:r>
            <a:endParaRPr lang="bg-BG" sz="16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4652D-E50D-B7B5-C5E1-3ADBB3C0B338}"/>
              </a:ext>
            </a:extLst>
          </p:cNvPr>
          <p:cNvSpPr txBox="1"/>
          <p:nvPr/>
        </p:nvSpPr>
        <p:spPr>
          <a:xfrm>
            <a:off x="961605" y="4091729"/>
            <a:ext cx="672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Step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4: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The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Python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Virtual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Machine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(PVM)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Executes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the</a:t>
            </a:r>
            <a:r>
              <a:rPr lang="bg-BG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bg-BG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Code</a:t>
            </a:r>
            <a:endParaRPr lang="bg-BG" sz="16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94DB3-533C-C877-0C9E-8B03B6CEFBA6}"/>
              </a:ext>
            </a:extLst>
          </p:cNvPr>
          <p:cNvSpPr txBox="1"/>
          <p:nvPr/>
        </p:nvSpPr>
        <p:spPr>
          <a:xfrm>
            <a:off x="966147" y="4593181"/>
            <a:ext cx="672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 err="1">
                <a:solidFill>
                  <a:schemeClr val="bg2"/>
                </a:solidFill>
              </a:rPr>
              <a:t>Step</a:t>
            </a:r>
            <a:r>
              <a:rPr lang="bg-BG" b="1" dirty="0">
                <a:solidFill>
                  <a:schemeClr val="bg2"/>
                </a:solidFill>
              </a:rPr>
              <a:t> 5: </a:t>
            </a:r>
            <a:r>
              <a:rPr lang="bg-BG" b="1" dirty="0" err="1">
                <a:solidFill>
                  <a:schemeClr val="bg2"/>
                </a:solidFill>
              </a:rPr>
              <a:t>Python’s</a:t>
            </a:r>
            <a:r>
              <a:rPr lang="bg-BG" b="1" dirty="0">
                <a:solidFill>
                  <a:schemeClr val="bg2"/>
                </a:solidFill>
              </a:rPr>
              <a:t> </a:t>
            </a:r>
            <a:r>
              <a:rPr lang="bg-BG" b="1" dirty="0" err="1">
                <a:solidFill>
                  <a:schemeClr val="bg2"/>
                </a:solidFill>
              </a:rPr>
              <a:t>Memory</a:t>
            </a:r>
            <a:r>
              <a:rPr lang="bg-BG" b="1" dirty="0">
                <a:solidFill>
                  <a:schemeClr val="bg2"/>
                </a:solidFill>
              </a:rPr>
              <a:t> </a:t>
            </a:r>
            <a:r>
              <a:rPr lang="bg-BG" b="1" dirty="0" err="1">
                <a:solidFill>
                  <a:schemeClr val="bg2"/>
                </a:solidFill>
              </a:rPr>
              <a:t>Management</a:t>
            </a:r>
            <a:r>
              <a:rPr lang="bg-BG" b="1" dirty="0">
                <a:solidFill>
                  <a:schemeClr val="bg2"/>
                </a:solidFill>
              </a:rPr>
              <a:t> (</a:t>
            </a:r>
            <a:r>
              <a:rPr lang="bg-BG" b="1" dirty="0" err="1">
                <a:solidFill>
                  <a:schemeClr val="bg2"/>
                </a:solidFill>
              </a:rPr>
              <a:t>Behind</a:t>
            </a:r>
            <a:r>
              <a:rPr lang="bg-BG" b="1" dirty="0">
                <a:solidFill>
                  <a:schemeClr val="bg2"/>
                </a:solidFill>
              </a:rPr>
              <a:t> </a:t>
            </a:r>
            <a:r>
              <a:rPr lang="bg-BG" b="1" dirty="0" err="1">
                <a:solidFill>
                  <a:schemeClr val="bg2"/>
                </a:solidFill>
              </a:rPr>
              <a:t>the</a:t>
            </a:r>
            <a:r>
              <a:rPr lang="bg-BG" b="1" dirty="0">
                <a:solidFill>
                  <a:schemeClr val="bg2"/>
                </a:solidFill>
              </a:rPr>
              <a:t> </a:t>
            </a:r>
            <a:r>
              <a:rPr lang="bg-BG" b="1" dirty="0" err="1">
                <a:solidFill>
                  <a:schemeClr val="bg2"/>
                </a:solidFill>
              </a:rPr>
              <a:t>Magic</a:t>
            </a:r>
            <a:r>
              <a:rPr lang="bg-BG" b="1" dirty="0">
                <a:solidFill>
                  <a:schemeClr val="bg2"/>
                </a:solidFill>
              </a:rPr>
              <a:t>)</a:t>
            </a:r>
            <a:endParaRPr lang="bg-BG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18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E469-4A0C-A837-2F6C-C359E2E8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3041906C-3E11-5D40-37F9-644938CA7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58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3E7FA-A5A8-CDF0-3AF6-65055FAB1F75}"/>
              </a:ext>
            </a:extLst>
          </p:cNvPr>
          <p:cNvSpPr txBox="1"/>
          <p:nvPr/>
        </p:nvSpPr>
        <p:spPr>
          <a:xfrm>
            <a:off x="3191139" y="760831"/>
            <a:ext cx="49383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5 – How Python Works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  Behind the Scenes?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2D51B-E85E-0E43-026F-36C6EBA65C19}"/>
              </a:ext>
            </a:extLst>
          </p:cNvPr>
          <p:cNvSpPr txBox="1"/>
          <p:nvPr/>
        </p:nvSpPr>
        <p:spPr>
          <a:xfrm>
            <a:off x="1971636" y="1941227"/>
            <a:ext cx="40588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5.2 The Python Ecosystem</a:t>
            </a:r>
            <a:endParaRPr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E9519-ABFD-AA3C-2809-4647808F721E}"/>
              </a:ext>
            </a:extLst>
          </p:cNvPr>
          <p:cNvSpPr txBox="1"/>
          <p:nvPr/>
        </p:nvSpPr>
        <p:spPr>
          <a:xfrm>
            <a:off x="2705821" y="5869900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EDE17-3EEC-4B73-D9B3-4A9F00202323}"/>
              </a:ext>
            </a:extLst>
          </p:cNvPr>
          <p:cNvSpPr txBox="1"/>
          <p:nvPr/>
        </p:nvSpPr>
        <p:spPr>
          <a:xfrm>
            <a:off x="1264596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72820-56D1-547B-5A55-6B2793BB823F}"/>
              </a:ext>
            </a:extLst>
          </p:cNvPr>
          <p:cNvSpPr txBox="1"/>
          <p:nvPr/>
        </p:nvSpPr>
        <p:spPr>
          <a:xfrm>
            <a:off x="966147" y="3097557"/>
            <a:ext cx="5447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Highly popular</a:t>
            </a:r>
            <a:endParaRPr lang="bg-BG" sz="2000" dirty="0">
              <a:solidFill>
                <a:schemeClr val="bg2"/>
              </a:solidFill>
            </a:endParaRPr>
          </a:p>
          <a:p>
            <a:endParaRPr lang="bg-BG" sz="20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B7BF1-CA8F-5B66-56CF-5A8745BE2795}"/>
              </a:ext>
            </a:extLst>
          </p:cNvPr>
          <p:cNvSpPr txBox="1"/>
          <p:nvPr/>
        </p:nvSpPr>
        <p:spPr>
          <a:xfrm>
            <a:off x="961605" y="3634398"/>
            <a:ext cx="3680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Large number of built-in libraries</a:t>
            </a:r>
            <a:endParaRPr lang="bg-BG" sz="2000" b="1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2CB2E-05C9-B701-666A-47EB6B3E55C8}"/>
              </a:ext>
            </a:extLst>
          </p:cNvPr>
          <p:cNvSpPr txBox="1"/>
          <p:nvPr/>
        </p:nvSpPr>
        <p:spPr>
          <a:xfrm>
            <a:off x="961605" y="4232489"/>
            <a:ext cx="464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dirty="0" err="1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Milions</a:t>
            </a:r>
            <a:r>
              <a:rPr lang="en-US" sz="1800" b="1" dirty="0">
                <a:solidFill>
                  <a:schemeClr val="bg2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if external libraries</a:t>
            </a:r>
            <a:endParaRPr lang="bg-BG" sz="16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85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DC8C-A742-FE2A-A421-E4D0BF52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ADC062ED-9654-AA0C-0A89-9DE144E55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58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058636-D121-CEF6-1183-F76B62C90160}"/>
              </a:ext>
            </a:extLst>
          </p:cNvPr>
          <p:cNvSpPr txBox="1"/>
          <p:nvPr/>
        </p:nvSpPr>
        <p:spPr>
          <a:xfrm>
            <a:off x="3191139" y="760831"/>
            <a:ext cx="49383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5 – How Python Works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  Behind the Scenes?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517B8-0864-72F7-9447-7EB4FA49FA38}"/>
              </a:ext>
            </a:extLst>
          </p:cNvPr>
          <p:cNvSpPr txBox="1"/>
          <p:nvPr/>
        </p:nvSpPr>
        <p:spPr>
          <a:xfrm>
            <a:off x="961605" y="1946650"/>
            <a:ext cx="24525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2800" dirty="0"/>
              <a:t>5.3 Importance</a:t>
            </a:r>
            <a:endParaRPr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1A854-D150-E73E-7ED1-E96816CCB260}"/>
              </a:ext>
            </a:extLst>
          </p:cNvPr>
          <p:cNvSpPr txBox="1"/>
          <p:nvPr/>
        </p:nvSpPr>
        <p:spPr>
          <a:xfrm>
            <a:off x="2705821" y="5869900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1764C-84EC-455F-47BB-7131C61B8E4A}"/>
              </a:ext>
            </a:extLst>
          </p:cNvPr>
          <p:cNvSpPr txBox="1"/>
          <p:nvPr/>
        </p:nvSpPr>
        <p:spPr>
          <a:xfrm>
            <a:off x="1264596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6A633-A65C-CC77-2861-25A49FFE36B3}"/>
              </a:ext>
            </a:extLst>
          </p:cNvPr>
          <p:cNvSpPr txBox="1"/>
          <p:nvPr/>
        </p:nvSpPr>
        <p:spPr>
          <a:xfrm>
            <a:off x="931601" y="2698191"/>
            <a:ext cx="5447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Gives you an edge over competition</a:t>
            </a:r>
            <a:endParaRPr lang="bg-BG" sz="2000" dirty="0">
              <a:solidFill>
                <a:schemeClr val="bg2"/>
              </a:solidFill>
            </a:endParaRPr>
          </a:p>
          <a:p>
            <a:endParaRPr lang="bg-BG" sz="20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96CA8-37D1-4E5E-0014-EB709537662B}"/>
              </a:ext>
            </a:extLst>
          </p:cNvPr>
          <p:cNvSpPr txBox="1"/>
          <p:nvPr/>
        </p:nvSpPr>
        <p:spPr>
          <a:xfrm>
            <a:off x="931601" y="3304909"/>
            <a:ext cx="3957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Improve your problem-solving skills</a:t>
            </a:r>
            <a:endParaRPr lang="bg-BG" sz="2000" b="1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E0B10-9609-971C-4475-8973958F7F0A}"/>
              </a:ext>
            </a:extLst>
          </p:cNvPr>
          <p:cNvSpPr txBox="1"/>
          <p:nvPr/>
        </p:nvSpPr>
        <p:spPr>
          <a:xfrm>
            <a:off x="929346" y="3994095"/>
            <a:ext cx="464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b="1" dirty="0">
                <a:solidFill>
                  <a:schemeClr val="bg2"/>
                </a:solidFill>
                <a:latin typeface="Aptos Display" panose="020B0004020202020204" pitchFamily="34" charset="0"/>
                <a:ea typeface="Times New Roman" panose="02020603050405020304" pitchFamily="18" charset="0"/>
              </a:rPr>
              <a:t>Improves your overall </a:t>
            </a:r>
            <a:r>
              <a:rPr lang="en-US" b="1" dirty="0" err="1">
                <a:solidFill>
                  <a:schemeClr val="bg2"/>
                </a:solidFill>
                <a:latin typeface="Aptos Display" panose="020B0004020202020204" pitchFamily="34" charset="0"/>
                <a:ea typeface="Times New Roman" panose="02020603050405020304" pitchFamily="18" charset="0"/>
              </a:rPr>
              <a:t>knoweldge</a:t>
            </a:r>
            <a:endParaRPr lang="bg-BG" sz="16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46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6AD42-82A5-E53B-6E9B-33DC4B9D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5CE9B8C6-7354-D5CA-7749-3E9FD07C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58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46BE9C-6251-D0E2-F274-AE8D123EC4C2}"/>
              </a:ext>
            </a:extLst>
          </p:cNvPr>
          <p:cNvSpPr txBox="1"/>
          <p:nvPr/>
        </p:nvSpPr>
        <p:spPr>
          <a:xfrm>
            <a:off x="3191139" y="760831"/>
            <a:ext cx="49383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SECTION 5 – How Python Works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800" dirty="0"/>
              <a:t>       Behind the Scenes?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2C5B9-ACD5-FDDD-EBE2-3138A8CCA9D8}"/>
              </a:ext>
            </a:extLst>
          </p:cNvPr>
          <p:cNvSpPr txBox="1"/>
          <p:nvPr/>
        </p:nvSpPr>
        <p:spPr>
          <a:xfrm>
            <a:off x="2554617" y="3090446"/>
            <a:ext cx="36829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lang="en-US" sz="3600" dirty="0"/>
              <a:t>5.4 Final Thoughts</a:t>
            </a:r>
            <a:endParaRPr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8EB72-2370-098A-D190-0B18199B8E79}"/>
              </a:ext>
            </a:extLst>
          </p:cNvPr>
          <p:cNvSpPr txBox="1"/>
          <p:nvPr/>
        </p:nvSpPr>
        <p:spPr>
          <a:xfrm>
            <a:off x="2705821" y="5869900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 FOR BEGINNERS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8F2F7-DEC9-933A-7492-AEEA03E3AE96}"/>
              </a:ext>
            </a:extLst>
          </p:cNvPr>
          <p:cNvSpPr txBox="1"/>
          <p:nvPr/>
        </p:nvSpPr>
        <p:spPr>
          <a:xfrm>
            <a:off x="1264596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1960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190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4</cp:revision>
  <dcterms:created xsi:type="dcterms:W3CDTF">2013-01-27T09:14:16Z</dcterms:created>
  <dcterms:modified xsi:type="dcterms:W3CDTF">2025-11-05T10:16:46Z</dcterms:modified>
  <cp:category/>
</cp:coreProperties>
</file>