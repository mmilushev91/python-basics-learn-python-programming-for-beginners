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9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A13D-CED6-4BEF-2B6D-ACE4A8C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1011C98A-DA92-555A-1CA5-47B35A633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77CC93-A9D3-0AC8-BA98-F4499DFF84B4}"/>
              </a:ext>
            </a:extLst>
          </p:cNvPr>
          <p:cNvSpPr txBox="1"/>
          <p:nvPr/>
        </p:nvSpPr>
        <p:spPr>
          <a:xfrm>
            <a:off x="2036287" y="2566827"/>
            <a:ext cx="65031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3600" b="1" dirty="0" err="1">
                <a:solidFill>
                  <a:schemeClr val="bg1"/>
                </a:solidFill>
              </a:rPr>
              <a:t>Section</a:t>
            </a:r>
            <a:r>
              <a:rPr lang="bg-BG" sz="3600" b="1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10</a:t>
            </a:r>
            <a:r>
              <a:rPr lang="bg-BG" sz="3600" b="1" dirty="0">
                <a:solidFill>
                  <a:schemeClr val="bg1"/>
                </a:solidFill>
              </a:rPr>
              <a:t> — </a:t>
            </a:r>
            <a:r>
              <a:rPr lang="en-US" sz="3600" b="1" dirty="0">
                <a:solidFill>
                  <a:schemeClr val="bg1"/>
                </a:solidFill>
              </a:rPr>
              <a:t>Variables in Python</a:t>
            </a:r>
            <a:endParaRPr lang="bg-BG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ECC040-881E-9D41-78A9-243A37811987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5391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29549" y="1041339"/>
            <a:ext cx="5100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10</a:t>
            </a:r>
            <a:r>
              <a:rPr lang="bg-BG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Variables in Python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65721-D59C-672C-B0BB-EE9D3EC57305}"/>
              </a:ext>
            </a:extLst>
          </p:cNvPr>
          <p:cNvSpPr txBox="1"/>
          <p:nvPr/>
        </p:nvSpPr>
        <p:spPr>
          <a:xfrm>
            <a:off x="1037616" y="1962357"/>
            <a:ext cx="40302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10.1 What is a Variable?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734CCD-0F19-9CE6-E049-94A30C5E579D}"/>
              </a:ext>
            </a:extLst>
          </p:cNvPr>
          <p:cNvSpPr txBox="1"/>
          <p:nvPr/>
        </p:nvSpPr>
        <p:spPr>
          <a:xfrm>
            <a:off x="1018161" y="2688383"/>
            <a:ext cx="61186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rPr lang="en-US" sz="2000" b="1" dirty="0"/>
              <a:t>V</a:t>
            </a:r>
            <a:r>
              <a:rPr lang="bg-BG" sz="2000" b="1" dirty="0" err="1"/>
              <a:t>ariable</a:t>
            </a:r>
            <a:r>
              <a:rPr lang="bg-BG" sz="2000" dirty="0"/>
              <a:t> </a:t>
            </a:r>
            <a:r>
              <a:rPr lang="bg-BG" sz="2000" dirty="0" err="1"/>
              <a:t>is</a:t>
            </a:r>
            <a:r>
              <a:rPr lang="bg-BG" sz="2000" dirty="0"/>
              <a:t> </a:t>
            </a:r>
            <a:r>
              <a:rPr lang="bg-BG" sz="2000" dirty="0" err="1"/>
              <a:t>like</a:t>
            </a:r>
            <a:r>
              <a:rPr lang="bg-BG" sz="2000" dirty="0"/>
              <a:t> a </a:t>
            </a:r>
            <a:r>
              <a:rPr lang="bg-BG" sz="2000" dirty="0" err="1"/>
              <a:t>box</a:t>
            </a:r>
            <a:r>
              <a:rPr lang="bg-BG" sz="2000" dirty="0"/>
              <a:t> </a:t>
            </a:r>
            <a:r>
              <a:rPr lang="bg-BG" sz="2000" dirty="0" err="1"/>
              <a:t>where</a:t>
            </a:r>
            <a:r>
              <a:rPr lang="bg-BG" sz="2000" dirty="0"/>
              <a:t> </a:t>
            </a:r>
            <a:r>
              <a:rPr lang="bg-BG" sz="2000" dirty="0" err="1"/>
              <a:t>you</a:t>
            </a:r>
            <a:r>
              <a:rPr lang="bg-BG" sz="2000" dirty="0"/>
              <a:t> </a:t>
            </a:r>
            <a:r>
              <a:rPr lang="bg-BG" sz="2000" dirty="0" err="1"/>
              <a:t>can</a:t>
            </a:r>
            <a:r>
              <a:rPr lang="bg-BG" sz="2000" dirty="0"/>
              <a:t> </a:t>
            </a:r>
            <a:r>
              <a:rPr lang="bg-BG" sz="2000" dirty="0" err="1"/>
              <a:t>store</a:t>
            </a:r>
            <a:r>
              <a:rPr lang="bg-BG" sz="2000" dirty="0"/>
              <a:t> a </a:t>
            </a:r>
            <a:r>
              <a:rPr lang="bg-BG" sz="2000" dirty="0" err="1"/>
              <a:t>piece</a:t>
            </a:r>
            <a:r>
              <a:rPr lang="bg-BG" sz="2000" dirty="0"/>
              <a:t> </a:t>
            </a:r>
            <a:r>
              <a:rPr lang="bg-BG" sz="2000" dirty="0" err="1"/>
              <a:t>of</a:t>
            </a:r>
            <a:r>
              <a:rPr lang="bg-BG" sz="2000" dirty="0"/>
              <a:t> </a:t>
            </a:r>
            <a:r>
              <a:rPr lang="bg-BG" sz="2000" dirty="0" err="1"/>
              <a:t>information</a:t>
            </a:r>
            <a:endParaRPr lang="bg-BG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BA151E-DBD7-CFFA-6F2F-E39053083BB7}"/>
              </a:ext>
            </a:extLst>
          </p:cNvPr>
          <p:cNvSpPr txBox="1"/>
          <p:nvPr/>
        </p:nvSpPr>
        <p:spPr>
          <a:xfrm>
            <a:off x="1037616" y="3448457"/>
            <a:ext cx="61186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2000" dirty="0" err="1">
                <a:solidFill>
                  <a:schemeClr val="bg1"/>
                </a:solidFill>
              </a:rPr>
              <a:t>Example</a:t>
            </a:r>
            <a:r>
              <a:rPr lang="bg-BG" sz="2000" dirty="0">
                <a:solidFill>
                  <a:schemeClr val="bg1"/>
                </a:solidFill>
              </a:rPr>
              <a:t>:</a:t>
            </a:r>
            <a:endParaRPr lang="en-US" sz="2000" dirty="0">
              <a:solidFill>
                <a:schemeClr val="bg1"/>
              </a:solidFill>
            </a:endParaRPr>
          </a:p>
          <a:p>
            <a:endParaRPr lang="bg-BG" sz="2000" dirty="0">
              <a:solidFill>
                <a:schemeClr val="bg1"/>
              </a:solidFill>
            </a:endParaRPr>
          </a:p>
          <a:p>
            <a:r>
              <a:rPr lang="bg-BG" sz="2000" dirty="0" err="1">
                <a:solidFill>
                  <a:schemeClr val="bg1"/>
                </a:solidFill>
              </a:rPr>
              <a:t>name</a:t>
            </a:r>
            <a:r>
              <a:rPr lang="bg-BG" sz="2000" dirty="0">
                <a:solidFill>
                  <a:schemeClr val="bg1"/>
                </a:solidFill>
              </a:rPr>
              <a:t> = "</a:t>
            </a:r>
            <a:r>
              <a:rPr lang="bg-BG" sz="2000" dirty="0" err="1">
                <a:solidFill>
                  <a:schemeClr val="bg1"/>
                </a:solidFill>
              </a:rPr>
              <a:t>Alice</a:t>
            </a:r>
            <a:r>
              <a:rPr lang="bg-BG" sz="2000" dirty="0">
                <a:solidFill>
                  <a:schemeClr val="bg1"/>
                </a:solidFill>
              </a:rPr>
              <a:t>"</a:t>
            </a:r>
          </a:p>
          <a:p>
            <a:r>
              <a:rPr lang="bg-BG" sz="2000" dirty="0" err="1">
                <a:solidFill>
                  <a:schemeClr val="bg1"/>
                </a:solidFill>
              </a:rPr>
              <a:t>age</a:t>
            </a:r>
            <a:r>
              <a:rPr lang="bg-BG" sz="2000" dirty="0">
                <a:solidFill>
                  <a:schemeClr val="bg1"/>
                </a:solidFill>
              </a:rPr>
              <a:t> =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91A11-4746-4500-9B52-3549463CF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518BDBB3-CF25-1583-30FC-C84C49FDB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94A635-B867-2845-FB99-ED02EB42ADED}"/>
              </a:ext>
            </a:extLst>
          </p:cNvPr>
          <p:cNvSpPr txBox="1"/>
          <p:nvPr/>
        </p:nvSpPr>
        <p:spPr>
          <a:xfrm>
            <a:off x="3129549" y="1041339"/>
            <a:ext cx="5100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10</a:t>
            </a:r>
            <a:r>
              <a:rPr lang="bg-BG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Variables in Python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52601-B40C-23C0-15E3-93C5B78E9690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4EDC5B-8BCD-4146-BD8C-04DF6102E50D}"/>
              </a:ext>
            </a:extLst>
          </p:cNvPr>
          <p:cNvSpPr txBox="1"/>
          <p:nvPr/>
        </p:nvSpPr>
        <p:spPr>
          <a:xfrm>
            <a:off x="1271082" y="2082678"/>
            <a:ext cx="61831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10.2 How Variables Work in Memory?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B1EAC-9C3C-69B6-7DE8-F110FA9B21AD}"/>
              </a:ext>
            </a:extLst>
          </p:cNvPr>
          <p:cNvSpPr txBox="1"/>
          <p:nvPr/>
        </p:nvSpPr>
        <p:spPr>
          <a:xfrm>
            <a:off x="1251626" y="2808705"/>
            <a:ext cx="61186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2000" dirty="0" err="1">
                <a:solidFill>
                  <a:schemeClr val="bg1"/>
                </a:solidFill>
              </a:rPr>
              <a:t>When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you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create</a:t>
            </a:r>
            <a:r>
              <a:rPr lang="bg-BG" sz="2000" dirty="0">
                <a:solidFill>
                  <a:schemeClr val="bg1"/>
                </a:solidFill>
              </a:rPr>
              <a:t> a </a:t>
            </a:r>
            <a:r>
              <a:rPr lang="bg-BG" sz="2000" dirty="0" err="1">
                <a:solidFill>
                  <a:schemeClr val="bg1"/>
                </a:solidFill>
              </a:rPr>
              <a:t>variable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dirty="0" err="1">
                <a:solidFill>
                  <a:schemeClr val="bg1"/>
                </a:solidFill>
              </a:rPr>
              <a:t>Python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does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three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things</a:t>
            </a:r>
            <a:r>
              <a:rPr lang="bg-BG" sz="2000" dirty="0">
                <a:solidFill>
                  <a:schemeClr val="bg1"/>
                </a:solidFill>
              </a:rPr>
              <a:t>:</a:t>
            </a:r>
          </a:p>
          <a:p>
            <a:r>
              <a:rPr lang="en-US" sz="2000" dirty="0">
                <a:solidFill>
                  <a:schemeClr val="bg1"/>
                </a:solidFill>
              </a:rPr>
              <a:t> </a:t>
            </a:r>
            <a:endParaRPr lang="bg-BG" sz="2000" dirty="0">
              <a:solidFill>
                <a:schemeClr val="bg1"/>
              </a:solidFill>
            </a:endParaRPr>
          </a:p>
          <a:p>
            <a:pPr lvl="0" fontAlgn="auto"/>
            <a:r>
              <a:rPr lang="bg-BG" sz="2000" b="1" dirty="0" err="1">
                <a:solidFill>
                  <a:schemeClr val="bg1"/>
                </a:solidFill>
              </a:rPr>
              <a:t>Creates</a:t>
            </a:r>
            <a:r>
              <a:rPr lang="bg-BG" sz="2000" b="1" dirty="0">
                <a:solidFill>
                  <a:schemeClr val="bg1"/>
                </a:solidFill>
              </a:rPr>
              <a:t> a </a:t>
            </a:r>
            <a:r>
              <a:rPr lang="bg-BG" sz="2000" b="1" dirty="0" err="1">
                <a:solidFill>
                  <a:schemeClr val="bg1"/>
                </a:solidFill>
              </a:rPr>
              <a:t>space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in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memory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to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store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the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value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pPr lvl="0" fontAlgn="auto"/>
            <a:endParaRPr lang="bg-BG" sz="2000" dirty="0">
              <a:solidFill>
                <a:schemeClr val="bg1"/>
              </a:solidFill>
            </a:endParaRPr>
          </a:p>
          <a:p>
            <a:pPr lvl="0" fontAlgn="auto"/>
            <a:r>
              <a:rPr lang="bg-BG" sz="2000" b="1" dirty="0">
                <a:solidFill>
                  <a:schemeClr val="bg1"/>
                </a:solidFill>
              </a:rPr>
              <a:t>Stores </a:t>
            </a:r>
            <a:r>
              <a:rPr lang="bg-BG" sz="2000" b="1" dirty="0" err="1">
                <a:solidFill>
                  <a:schemeClr val="bg1"/>
                </a:solidFill>
              </a:rPr>
              <a:t>the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data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in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that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space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pPr lvl="0" fontAlgn="auto"/>
            <a:endParaRPr lang="bg-BG" sz="2000" dirty="0">
              <a:solidFill>
                <a:schemeClr val="bg1"/>
              </a:solidFill>
            </a:endParaRPr>
          </a:p>
          <a:p>
            <a:pPr lvl="0" fontAlgn="auto"/>
            <a:r>
              <a:rPr lang="bg-BG" sz="2000" b="1" dirty="0" err="1">
                <a:solidFill>
                  <a:schemeClr val="bg1"/>
                </a:solidFill>
              </a:rPr>
              <a:t>Links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your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chosen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name</a:t>
            </a:r>
            <a:r>
              <a:rPr lang="bg-BG" sz="2000" dirty="0">
                <a:solidFill>
                  <a:schemeClr val="bg1"/>
                </a:solidFill>
              </a:rPr>
              <a:t> (</a:t>
            </a:r>
            <a:r>
              <a:rPr lang="bg-BG" sz="2000" dirty="0" err="1">
                <a:solidFill>
                  <a:schemeClr val="bg1"/>
                </a:solidFill>
              </a:rPr>
              <a:t>like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age</a:t>
            </a:r>
            <a:r>
              <a:rPr lang="bg-BG" sz="2000" dirty="0">
                <a:solidFill>
                  <a:schemeClr val="bg1"/>
                </a:solidFill>
              </a:rPr>
              <a:t>) </a:t>
            </a:r>
            <a:r>
              <a:rPr lang="bg-BG" sz="2000" dirty="0" err="1">
                <a:solidFill>
                  <a:schemeClr val="bg1"/>
                </a:solidFill>
              </a:rPr>
              <a:t>to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that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data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421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FF276-BA38-B45F-E276-C359D123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4F0572F6-38BA-0CA1-696D-FA0CAC520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FDEB1A-AEF7-8E1F-859A-9360E360DEE2}"/>
              </a:ext>
            </a:extLst>
          </p:cNvPr>
          <p:cNvSpPr txBox="1"/>
          <p:nvPr/>
        </p:nvSpPr>
        <p:spPr>
          <a:xfrm>
            <a:off x="3129549" y="1041339"/>
            <a:ext cx="5100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10</a:t>
            </a:r>
            <a:r>
              <a:rPr lang="bg-BG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Variables in Python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EA01D-3FBF-1209-D1E1-3FF4AA7B45AF}"/>
              </a:ext>
            </a:extLst>
          </p:cNvPr>
          <p:cNvSpPr txBox="1"/>
          <p:nvPr/>
        </p:nvSpPr>
        <p:spPr>
          <a:xfrm>
            <a:off x="3524452" y="6132892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ED7C9-65AE-2943-C8CD-42D23DC9DE03}"/>
              </a:ext>
            </a:extLst>
          </p:cNvPr>
          <p:cNvSpPr txBox="1"/>
          <p:nvPr/>
        </p:nvSpPr>
        <p:spPr>
          <a:xfrm>
            <a:off x="925124" y="1645000"/>
            <a:ext cx="49536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10.3 How to Create a Variable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53A57-C86D-A291-1622-A98DED0058CF}"/>
              </a:ext>
            </a:extLst>
          </p:cNvPr>
          <p:cNvSpPr txBox="1"/>
          <p:nvPr/>
        </p:nvSpPr>
        <p:spPr>
          <a:xfrm>
            <a:off x="925124" y="2136425"/>
            <a:ext cx="67509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variable_name</a:t>
            </a:r>
            <a:r>
              <a:rPr lang="bg-BG" dirty="0">
                <a:solidFill>
                  <a:schemeClr val="bg1"/>
                </a:solidFill>
              </a:rPr>
              <a:t> = </a:t>
            </a:r>
            <a:r>
              <a:rPr lang="bg-BG" dirty="0" err="1">
                <a:solidFill>
                  <a:schemeClr val="bg1"/>
                </a:solidFill>
              </a:rPr>
              <a:t>value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The</a:t>
            </a:r>
            <a:r>
              <a:rPr lang="bg-BG" dirty="0">
                <a:solidFill>
                  <a:schemeClr val="bg1"/>
                </a:solidFill>
              </a:rPr>
              <a:t> = </a:t>
            </a:r>
            <a:r>
              <a:rPr lang="bg-BG" dirty="0" err="1">
                <a:solidFill>
                  <a:schemeClr val="bg1"/>
                </a:solidFill>
              </a:rPr>
              <a:t>means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assignment</a:t>
            </a:r>
            <a:endParaRPr lang="en-US" dirty="0">
              <a:solidFill>
                <a:schemeClr val="bg1"/>
              </a:solidFill>
            </a:endParaRPr>
          </a:p>
          <a:p>
            <a:endParaRPr lang="bg-BG" dirty="0">
              <a:solidFill>
                <a:schemeClr val="bg1"/>
              </a:solidFill>
            </a:endParaRPr>
          </a:p>
          <a:p>
            <a:r>
              <a:rPr lang="bg-BG" b="1" dirty="0" err="1">
                <a:solidFill>
                  <a:schemeClr val="bg1"/>
                </a:solidFill>
              </a:rPr>
              <a:t>Example</a:t>
            </a:r>
            <a:r>
              <a:rPr lang="bg-BG" b="1" dirty="0">
                <a:solidFill>
                  <a:schemeClr val="bg1"/>
                </a:solidFill>
              </a:rPr>
              <a:t>: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city</a:t>
            </a:r>
            <a:r>
              <a:rPr lang="bg-BG" dirty="0">
                <a:solidFill>
                  <a:schemeClr val="bg1"/>
                </a:solidFill>
              </a:rPr>
              <a:t> = "New </a:t>
            </a:r>
            <a:r>
              <a:rPr lang="bg-BG" dirty="0" err="1">
                <a:solidFill>
                  <a:schemeClr val="bg1"/>
                </a:solidFill>
              </a:rPr>
              <a:t>York</a:t>
            </a:r>
            <a:r>
              <a:rPr lang="bg-BG" dirty="0">
                <a:solidFill>
                  <a:schemeClr val="bg1"/>
                </a:solidFill>
              </a:rPr>
              <a:t>"</a:t>
            </a:r>
          </a:p>
          <a:p>
            <a:r>
              <a:rPr lang="bg-BG" dirty="0" err="1">
                <a:solidFill>
                  <a:schemeClr val="bg1"/>
                </a:solidFill>
              </a:rPr>
              <a:t>temperature</a:t>
            </a:r>
            <a:r>
              <a:rPr lang="bg-BG" dirty="0">
                <a:solidFill>
                  <a:schemeClr val="bg1"/>
                </a:solidFill>
              </a:rPr>
              <a:t> = 21</a:t>
            </a:r>
          </a:p>
          <a:p>
            <a:r>
              <a:rPr lang="bg-BG" dirty="0" err="1">
                <a:solidFill>
                  <a:schemeClr val="bg1"/>
                </a:solidFill>
              </a:rPr>
              <a:t>is_raining</a:t>
            </a:r>
            <a:r>
              <a:rPr lang="bg-BG" dirty="0">
                <a:solidFill>
                  <a:schemeClr val="bg1"/>
                </a:solidFill>
              </a:rPr>
              <a:t> = </a:t>
            </a:r>
            <a:r>
              <a:rPr lang="bg-BG" dirty="0" err="1">
                <a:solidFill>
                  <a:schemeClr val="bg1"/>
                </a:solidFill>
              </a:rPr>
              <a:t>False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  </a:t>
            </a:r>
            <a:r>
              <a:rPr lang="bg-BG" dirty="0" err="1">
                <a:solidFill>
                  <a:schemeClr val="bg1"/>
                </a:solidFill>
              </a:rPr>
              <a:t>Here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we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stored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three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different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types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of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data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variables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pPr lvl="0" fontAlgn="auto"/>
            <a:r>
              <a:rPr lang="en-US" dirty="0">
                <a:solidFill>
                  <a:schemeClr val="bg1"/>
                </a:solidFill>
              </a:rPr>
              <a:t>		  </a:t>
            </a:r>
            <a:r>
              <a:rPr lang="bg-BG" dirty="0">
                <a:solidFill>
                  <a:schemeClr val="bg1"/>
                </a:solidFill>
              </a:rPr>
              <a:t>A </a:t>
            </a:r>
            <a:r>
              <a:rPr lang="bg-BG" b="1" dirty="0" err="1">
                <a:solidFill>
                  <a:schemeClr val="bg1"/>
                </a:solidFill>
              </a:rPr>
              <a:t>string</a:t>
            </a:r>
            <a:r>
              <a:rPr lang="bg-BG" dirty="0">
                <a:solidFill>
                  <a:schemeClr val="bg1"/>
                </a:solidFill>
              </a:rPr>
              <a:t> ("New </a:t>
            </a:r>
            <a:r>
              <a:rPr lang="bg-BG" dirty="0" err="1">
                <a:solidFill>
                  <a:schemeClr val="bg1"/>
                </a:solidFill>
              </a:rPr>
              <a:t>York</a:t>
            </a:r>
            <a:r>
              <a:rPr lang="bg-BG" dirty="0">
                <a:solidFill>
                  <a:schemeClr val="bg1"/>
                </a:solidFill>
              </a:rPr>
              <a:t>")</a:t>
            </a:r>
          </a:p>
          <a:p>
            <a:pPr lvl="0" fontAlgn="auto"/>
            <a:r>
              <a:rPr lang="en-US" dirty="0">
                <a:solidFill>
                  <a:schemeClr val="bg1"/>
                </a:solidFill>
              </a:rPr>
              <a:t>		  </a:t>
            </a:r>
            <a:r>
              <a:rPr lang="bg-BG" dirty="0">
                <a:solidFill>
                  <a:schemeClr val="bg1"/>
                </a:solidFill>
              </a:rPr>
              <a:t>A </a:t>
            </a:r>
            <a:r>
              <a:rPr lang="bg-BG" b="1" dirty="0" err="1">
                <a:solidFill>
                  <a:schemeClr val="bg1"/>
                </a:solidFill>
              </a:rPr>
              <a:t>number</a:t>
            </a:r>
            <a:r>
              <a:rPr lang="bg-BG" dirty="0">
                <a:solidFill>
                  <a:schemeClr val="bg1"/>
                </a:solidFill>
              </a:rPr>
              <a:t> (21)</a:t>
            </a:r>
          </a:p>
          <a:p>
            <a:pPr lvl="0" fontAlgn="auto"/>
            <a:r>
              <a:rPr lang="en-US" dirty="0">
                <a:solidFill>
                  <a:schemeClr val="bg1"/>
                </a:solidFill>
              </a:rPr>
              <a:t>		  </a:t>
            </a:r>
            <a:r>
              <a:rPr lang="bg-BG" dirty="0">
                <a:solidFill>
                  <a:schemeClr val="bg1"/>
                </a:solidFill>
              </a:rPr>
              <a:t>A </a:t>
            </a:r>
            <a:r>
              <a:rPr lang="bg-BG" b="1" dirty="0" err="1">
                <a:solidFill>
                  <a:schemeClr val="bg1"/>
                </a:solidFill>
              </a:rPr>
              <a:t>boolean</a:t>
            </a:r>
            <a:r>
              <a:rPr lang="bg-BG" dirty="0">
                <a:solidFill>
                  <a:schemeClr val="bg1"/>
                </a:solidFill>
              </a:rPr>
              <a:t> (</a:t>
            </a:r>
            <a:r>
              <a:rPr lang="bg-BG" dirty="0" err="1">
                <a:solidFill>
                  <a:schemeClr val="bg1"/>
                </a:solidFill>
              </a:rPr>
              <a:t>False</a:t>
            </a:r>
            <a:r>
              <a:rPr lang="bg-BG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8324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A3036-2CF7-854C-F602-BAA89BA0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7F99421D-A8C1-D199-A75B-3BECFA6D0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78753C-7B6B-4A1F-FCDA-15E66C579423}"/>
              </a:ext>
            </a:extLst>
          </p:cNvPr>
          <p:cNvSpPr txBox="1"/>
          <p:nvPr/>
        </p:nvSpPr>
        <p:spPr>
          <a:xfrm>
            <a:off x="3129549" y="1041339"/>
            <a:ext cx="5100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10</a:t>
            </a:r>
            <a:r>
              <a:rPr lang="bg-BG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Variables in Python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8F575-EC02-9628-A5F6-6E8B1883FA28}"/>
              </a:ext>
            </a:extLst>
          </p:cNvPr>
          <p:cNvSpPr txBox="1"/>
          <p:nvPr/>
        </p:nvSpPr>
        <p:spPr>
          <a:xfrm>
            <a:off x="2937893" y="585058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C6790-5B59-19E7-01D2-FBD893C73FD1}"/>
              </a:ext>
            </a:extLst>
          </p:cNvPr>
          <p:cNvSpPr txBox="1"/>
          <p:nvPr/>
        </p:nvSpPr>
        <p:spPr>
          <a:xfrm>
            <a:off x="925124" y="1645000"/>
            <a:ext cx="275492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10.4 </a:t>
            </a:r>
            <a:r>
              <a:rPr lang="bg-BG" sz="2400" b="1" dirty="0" err="1">
                <a:solidFill>
                  <a:schemeClr val="bg1"/>
                </a:solidFill>
              </a:rPr>
              <a:t>Using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Variables</a:t>
            </a:r>
            <a:endParaRPr lang="bg-BG" sz="2400" dirty="0">
              <a:solidFill>
                <a:schemeClr val="bg1"/>
              </a:solidFill>
            </a:endParaRPr>
          </a:p>
          <a:p>
            <a:endParaRPr lang="bg-BG" sz="3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E8C89-C963-5374-4F0F-7F762707E282}"/>
              </a:ext>
            </a:extLst>
          </p:cNvPr>
          <p:cNvSpPr txBox="1"/>
          <p:nvPr/>
        </p:nvSpPr>
        <p:spPr>
          <a:xfrm>
            <a:off x="1749484" y="2152831"/>
            <a:ext cx="67509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 = "</a:t>
            </a:r>
            <a:r>
              <a:rPr lang="bg-BG" dirty="0" err="1">
                <a:solidFill>
                  <a:schemeClr val="bg1"/>
                </a:solidFill>
              </a:rPr>
              <a:t>Alice</a:t>
            </a:r>
            <a:r>
              <a:rPr lang="bg-BG" dirty="0">
                <a:solidFill>
                  <a:schemeClr val="bg1"/>
                </a:solidFill>
              </a:rPr>
              <a:t>"</a:t>
            </a: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("</a:t>
            </a:r>
            <a:r>
              <a:rPr lang="bg-BG" dirty="0" err="1">
                <a:solidFill>
                  <a:schemeClr val="bg1"/>
                </a:solidFill>
              </a:rPr>
              <a:t>Hello</a:t>
            </a:r>
            <a:r>
              <a:rPr lang="bg-BG" dirty="0">
                <a:solidFill>
                  <a:schemeClr val="bg1"/>
                </a:solidFill>
              </a:rPr>
              <a:t>,", </a:t>
            </a:r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Output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 err="1">
                <a:solidFill>
                  <a:schemeClr val="bg1"/>
                </a:solidFill>
              </a:rPr>
              <a:t>Hello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Alice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bg-BG" dirty="0">
                <a:solidFill>
                  <a:schemeClr val="bg1"/>
                </a:solidFill>
              </a:rPr>
              <a:t>x = 10</a:t>
            </a:r>
          </a:p>
          <a:p>
            <a:r>
              <a:rPr lang="bg-BG" dirty="0">
                <a:solidFill>
                  <a:schemeClr val="bg1"/>
                </a:solidFill>
              </a:rPr>
              <a:t>y = 5</a:t>
            </a:r>
          </a:p>
          <a:p>
            <a:r>
              <a:rPr lang="bg-BG" dirty="0" err="1">
                <a:solidFill>
                  <a:schemeClr val="bg1"/>
                </a:solidFill>
              </a:rPr>
              <a:t>result</a:t>
            </a:r>
            <a:r>
              <a:rPr lang="bg-BG" dirty="0">
                <a:solidFill>
                  <a:schemeClr val="bg1"/>
                </a:solidFill>
              </a:rPr>
              <a:t> = x + y</a:t>
            </a: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</a:t>
            </a:r>
            <a:r>
              <a:rPr lang="bg-BG" dirty="0" err="1">
                <a:solidFill>
                  <a:schemeClr val="bg1"/>
                </a:solidFill>
              </a:rPr>
              <a:t>result</a:t>
            </a:r>
            <a:r>
              <a:rPr lang="bg-BG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Output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>
                <a:solidFill>
                  <a:schemeClr val="bg1"/>
                </a:solidFill>
              </a:rPr>
              <a:t>15</a:t>
            </a:r>
          </a:p>
          <a:p>
            <a:endParaRPr lang="bg-B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9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0A163-0318-9CD4-CBF4-42E046699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A4479D75-D80F-06BB-7437-4CCD0BA9C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0E0010-37A9-301B-24B4-7645513CDE38}"/>
              </a:ext>
            </a:extLst>
          </p:cNvPr>
          <p:cNvSpPr txBox="1"/>
          <p:nvPr/>
        </p:nvSpPr>
        <p:spPr>
          <a:xfrm>
            <a:off x="3129549" y="1041339"/>
            <a:ext cx="5100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10</a:t>
            </a:r>
            <a:r>
              <a:rPr lang="bg-BG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Variables in Python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63447-E59C-4A1B-BD07-08AC60D18224}"/>
              </a:ext>
            </a:extLst>
          </p:cNvPr>
          <p:cNvSpPr txBox="1"/>
          <p:nvPr/>
        </p:nvSpPr>
        <p:spPr>
          <a:xfrm>
            <a:off x="2937893" y="585058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73AF1-26A5-5986-8BC0-0B464F9C96CF}"/>
              </a:ext>
            </a:extLst>
          </p:cNvPr>
          <p:cNvSpPr txBox="1"/>
          <p:nvPr/>
        </p:nvSpPr>
        <p:spPr>
          <a:xfrm>
            <a:off x="1041856" y="2106665"/>
            <a:ext cx="323838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10.5 </a:t>
            </a:r>
            <a:r>
              <a:rPr lang="bg-BG" sz="2400" b="1" dirty="0" err="1">
                <a:solidFill>
                  <a:schemeClr val="bg1"/>
                </a:solidFill>
              </a:rPr>
              <a:t>Updating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Variables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E0957-3B95-7580-FB4E-64EF9ED2D37F}"/>
              </a:ext>
            </a:extLst>
          </p:cNvPr>
          <p:cNvSpPr txBox="1"/>
          <p:nvPr/>
        </p:nvSpPr>
        <p:spPr>
          <a:xfrm>
            <a:off x="1041856" y="2830252"/>
            <a:ext cx="67509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score</a:t>
            </a:r>
            <a:r>
              <a:rPr lang="bg-BG" dirty="0">
                <a:solidFill>
                  <a:schemeClr val="bg1"/>
                </a:solidFill>
              </a:rPr>
              <a:t> = 0</a:t>
            </a: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("</a:t>
            </a:r>
            <a:r>
              <a:rPr lang="bg-BG" dirty="0" err="1">
                <a:solidFill>
                  <a:schemeClr val="bg1"/>
                </a:solidFill>
              </a:rPr>
              <a:t>Score</a:t>
            </a:r>
            <a:r>
              <a:rPr lang="bg-BG" dirty="0">
                <a:solidFill>
                  <a:schemeClr val="bg1"/>
                </a:solidFill>
              </a:rPr>
              <a:t>:", </a:t>
            </a:r>
            <a:r>
              <a:rPr lang="bg-BG" dirty="0" err="1">
                <a:solidFill>
                  <a:schemeClr val="bg1"/>
                </a:solidFill>
              </a:rPr>
              <a:t>score</a:t>
            </a:r>
            <a:r>
              <a:rPr lang="bg-BG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score</a:t>
            </a:r>
            <a:r>
              <a:rPr lang="bg-BG" dirty="0">
                <a:solidFill>
                  <a:schemeClr val="bg1"/>
                </a:solidFill>
              </a:rPr>
              <a:t> = 10</a:t>
            </a: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("</a:t>
            </a:r>
            <a:r>
              <a:rPr lang="bg-BG" dirty="0" err="1">
                <a:solidFill>
                  <a:schemeClr val="bg1"/>
                </a:solidFill>
              </a:rPr>
              <a:t>Score</a:t>
            </a:r>
            <a:r>
              <a:rPr lang="bg-BG" dirty="0">
                <a:solidFill>
                  <a:schemeClr val="bg1"/>
                </a:solidFill>
              </a:rPr>
              <a:t>:", </a:t>
            </a:r>
            <a:r>
              <a:rPr lang="bg-BG" dirty="0" err="1">
                <a:solidFill>
                  <a:schemeClr val="bg1"/>
                </a:solidFill>
              </a:rPr>
              <a:t>score</a:t>
            </a:r>
            <a:r>
              <a:rPr lang="bg-BG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Output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 err="1">
                <a:solidFill>
                  <a:schemeClr val="bg1"/>
                </a:solidFill>
              </a:rPr>
              <a:t>Score</a:t>
            </a:r>
            <a:r>
              <a:rPr lang="bg-BG" dirty="0">
                <a:solidFill>
                  <a:schemeClr val="bg1"/>
                </a:solidFill>
              </a:rPr>
              <a:t>: 0</a:t>
            </a:r>
          </a:p>
          <a:p>
            <a:r>
              <a:rPr lang="bg-BG" dirty="0" err="1">
                <a:solidFill>
                  <a:schemeClr val="bg1"/>
                </a:solidFill>
              </a:rPr>
              <a:t>Score</a:t>
            </a:r>
            <a:r>
              <a:rPr lang="bg-BG" dirty="0">
                <a:solidFill>
                  <a:schemeClr val="bg1"/>
                </a:solidFill>
              </a:rPr>
              <a:t>: 10</a:t>
            </a:r>
          </a:p>
        </p:txBody>
      </p:sp>
    </p:spTree>
    <p:extLst>
      <p:ext uri="{BB962C8B-B14F-4D97-AF65-F5344CB8AC3E}">
        <p14:creationId xmlns:p14="http://schemas.microsoft.com/office/powerpoint/2010/main" val="2563769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B1EC-298E-6953-8406-21D886FFD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6EC76F3F-0251-DB05-DA3E-B4DB1802A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2D5EF2-4185-B94A-0301-F6C5D6087428}"/>
              </a:ext>
            </a:extLst>
          </p:cNvPr>
          <p:cNvSpPr txBox="1"/>
          <p:nvPr/>
        </p:nvSpPr>
        <p:spPr>
          <a:xfrm>
            <a:off x="3129549" y="1041339"/>
            <a:ext cx="5100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10</a:t>
            </a:r>
            <a:r>
              <a:rPr lang="bg-BG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Variables in Python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8B9B5E-DD0C-C68A-42D4-C09471E43FE5}"/>
              </a:ext>
            </a:extLst>
          </p:cNvPr>
          <p:cNvSpPr txBox="1"/>
          <p:nvPr/>
        </p:nvSpPr>
        <p:spPr>
          <a:xfrm>
            <a:off x="2937893" y="585058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767AA-A050-CF1C-4240-456D2D08152E}"/>
              </a:ext>
            </a:extLst>
          </p:cNvPr>
          <p:cNvSpPr txBox="1"/>
          <p:nvPr/>
        </p:nvSpPr>
        <p:spPr>
          <a:xfrm>
            <a:off x="1041856" y="1690520"/>
            <a:ext cx="367344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10.6 </a:t>
            </a:r>
            <a:r>
              <a:rPr lang="bg-BG" sz="2400" b="1" dirty="0" err="1">
                <a:solidFill>
                  <a:schemeClr val="bg1"/>
                </a:solidFill>
              </a:rPr>
              <a:t>Variable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Naming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Rules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8B98DC-7C7E-C1A6-3CAD-AB56138B2E66}"/>
              </a:ext>
            </a:extLst>
          </p:cNvPr>
          <p:cNvSpPr txBox="1"/>
          <p:nvPr/>
        </p:nvSpPr>
        <p:spPr>
          <a:xfrm>
            <a:off x="1528239" y="2178529"/>
            <a:ext cx="443871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2000" dirty="0" err="1">
                <a:solidFill>
                  <a:schemeClr val="bg1"/>
                </a:solidFill>
              </a:rPr>
              <a:t>You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can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use</a:t>
            </a:r>
            <a:r>
              <a:rPr lang="bg-BG" sz="2000" dirty="0">
                <a:solidFill>
                  <a:schemeClr val="bg1"/>
                </a:solidFill>
              </a:rPr>
              <a:t>:</a:t>
            </a:r>
            <a:endParaRPr lang="en-US" sz="2000" dirty="0">
              <a:solidFill>
                <a:schemeClr val="bg1"/>
              </a:solidFill>
            </a:endParaRPr>
          </a:p>
          <a:p>
            <a:endParaRPr lang="bg-BG" sz="2000" dirty="0">
              <a:solidFill>
                <a:schemeClr val="bg1"/>
              </a:solidFill>
            </a:endParaRPr>
          </a:p>
          <a:p>
            <a:pPr lvl="0" fontAlgn="auto"/>
            <a:r>
              <a:rPr lang="bg-BG" sz="2000" dirty="0" err="1">
                <a:solidFill>
                  <a:schemeClr val="bg1"/>
                </a:solidFill>
              </a:rPr>
              <a:t>Letters</a:t>
            </a:r>
            <a:r>
              <a:rPr lang="bg-BG" sz="2000" dirty="0">
                <a:solidFill>
                  <a:schemeClr val="bg1"/>
                </a:solidFill>
              </a:rPr>
              <a:t> (a–z, A–Z)</a:t>
            </a:r>
          </a:p>
          <a:p>
            <a:pPr lvl="0" fontAlgn="auto"/>
            <a:r>
              <a:rPr lang="bg-BG" sz="2000" dirty="0" err="1">
                <a:solidFill>
                  <a:schemeClr val="bg1"/>
                </a:solidFill>
              </a:rPr>
              <a:t>Numbers</a:t>
            </a:r>
            <a:r>
              <a:rPr lang="bg-BG" sz="2000" dirty="0">
                <a:solidFill>
                  <a:schemeClr val="bg1"/>
                </a:solidFill>
              </a:rPr>
              <a:t> (0–9)</a:t>
            </a:r>
          </a:p>
          <a:p>
            <a:pPr lvl="0" fontAlgn="auto"/>
            <a:r>
              <a:rPr lang="bg-BG" sz="2000" dirty="0" err="1">
                <a:solidFill>
                  <a:schemeClr val="bg1"/>
                </a:solidFill>
              </a:rPr>
              <a:t>Underscores</a:t>
            </a:r>
            <a:r>
              <a:rPr lang="bg-BG" sz="2000" dirty="0">
                <a:solidFill>
                  <a:schemeClr val="bg1"/>
                </a:solidFill>
              </a:rPr>
              <a:t> (_)</a:t>
            </a:r>
            <a:endParaRPr lang="en-US" sz="2000" dirty="0">
              <a:solidFill>
                <a:schemeClr val="bg1"/>
              </a:solidFill>
            </a:endParaRPr>
          </a:p>
          <a:p>
            <a:pPr lvl="0" fontAlgn="auto"/>
            <a:endParaRPr lang="bg-BG" sz="2000" dirty="0">
              <a:solidFill>
                <a:schemeClr val="bg1"/>
              </a:solidFill>
            </a:endParaRPr>
          </a:p>
          <a:p>
            <a:r>
              <a:rPr lang="bg-BG" sz="2000" dirty="0" err="1">
                <a:solidFill>
                  <a:schemeClr val="bg1"/>
                </a:solidFill>
              </a:rPr>
              <a:t>You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cannot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start</a:t>
            </a:r>
            <a:r>
              <a:rPr lang="bg-BG" sz="2000" dirty="0">
                <a:solidFill>
                  <a:schemeClr val="bg1"/>
                </a:solidFill>
              </a:rPr>
              <a:t> a </a:t>
            </a:r>
            <a:r>
              <a:rPr lang="bg-BG" sz="2000" dirty="0" err="1">
                <a:solidFill>
                  <a:schemeClr val="bg1"/>
                </a:solidFill>
              </a:rPr>
              <a:t>variable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name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with</a:t>
            </a:r>
            <a:r>
              <a:rPr lang="bg-BG" sz="2000" dirty="0">
                <a:solidFill>
                  <a:schemeClr val="bg1"/>
                </a:solidFill>
              </a:rPr>
              <a:t> a </a:t>
            </a:r>
            <a:r>
              <a:rPr lang="bg-BG" sz="2000" dirty="0" err="1">
                <a:solidFill>
                  <a:schemeClr val="bg1"/>
                </a:solidFill>
              </a:rPr>
              <a:t>number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br>
              <a:rPr lang="bg-BG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Y</a:t>
            </a:r>
            <a:r>
              <a:rPr lang="bg-BG" sz="2000" dirty="0" err="1">
                <a:solidFill>
                  <a:schemeClr val="bg1"/>
                </a:solidFill>
              </a:rPr>
              <a:t>ou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can’t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use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spaces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or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special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characters</a:t>
            </a:r>
            <a:r>
              <a:rPr lang="bg-BG" sz="2000" dirty="0">
                <a:solidFill>
                  <a:schemeClr val="bg1"/>
                </a:solidFill>
              </a:rPr>
              <a:t> (!, @, #, </a:t>
            </a:r>
            <a:r>
              <a:rPr lang="bg-BG" sz="2000" dirty="0" err="1">
                <a:solidFill>
                  <a:schemeClr val="bg1"/>
                </a:solidFill>
              </a:rPr>
              <a:t>etc</a:t>
            </a:r>
            <a:r>
              <a:rPr lang="bg-BG" sz="2000" dirty="0">
                <a:solidFill>
                  <a:schemeClr val="bg1"/>
                </a:solidFill>
              </a:rPr>
              <a:t>.).</a:t>
            </a:r>
          </a:p>
        </p:txBody>
      </p:sp>
    </p:spTree>
    <p:extLst>
      <p:ext uri="{BB962C8B-B14F-4D97-AF65-F5344CB8AC3E}">
        <p14:creationId xmlns:p14="http://schemas.microsoft.com/office/powerpoint/2010/main" val="371984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CC0F9-32CE-9BED-36D3-4F8FEC9CF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61286B5D-3A8D-51DE-7916-858D3E2DF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6EF1F7-3DC0-BB46-57D4-3D6C07A6C9C1}"/>
              </a:ext>
            </a:extLst>
          </p:cNvPr>
          <p:cNvSpPr txBox="1"/>
          <p:nvPr/>
        </p:nvSpPr>
        <p:spPr>
          <a:xfrm>
            <a:off x="3129549" y="1041339"/>
            <a:ext cx="5100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10</a:t>
            </a:r>
            <a:r>
              <a:rPr lang="bg-BG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Variables in Python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CF35A-301C-1C32-E74C-9981FDDCB26F}"/>
              </a:ext>
            </a:extLst>
          </p:cNvPr>
          <p:cNvSpPr txBox="1"/>
          <p:nvPr/>
        </p:nvSpPr>
        <p:spPr>
          <a:xfrm>
            <a:off x="2937893" y="585058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DAAB6-6FFE-3D5B-79B1-F6B41804459E}"/>
              </a:ext>
            </a:extLst>
          </p:cNvPr>
          <p:cNvSpPr txBox="1"/>
          <p:nvPr/>
        </p:nvSpPr>
        <p:spPr>
          <a:xfrm>
            <a:off x="1022401" y="1640711"/>
            <a:ext cx="432958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10.7 Naming Tips(Best Practices)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B726F7-C787-B7A4-47AB-739AFF8DE3EC}"/>
              </a:ext>
            </a:extLst>
          </p:cNvPr>
          <p:cNvSpPr txBox="1"/>
          <p:nvPr/>
        </p:nvSpPr>
        <p:spPr>
          <a:xfrm>
            <a:off x="1041995" y="2273265"/>
            <a:ext cx="7187605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bg-BG" sz="2000" dirty="0" err="1">
                <a:solidFill>
                  <a:schemeClr val="bg1"/>
                </a:solidFill>
              </a:rPr>
              <a:t>user_age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is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better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than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ua</a:t>
            </a:r>
            <a:endParaRPr lang="en-US" sz="2000" dirty="0">
              <a:solidFill>
                <a:schemeClr val="bg1"/>
              </a:solidFill>
            </a:endParaRPr>
          </a:p>
          <a:p>
            <a:pPr lvl="0"/>
            <a:endParaRPr lang="bg-BG" sz="2000" dirty="0">
              <a:solidFill>
                <a:schemeClr val="bg1"/>
              </a:solidFill>
            </a:endParaRPr>
          </a:p>
          <a:p>
            <a:pPr lvl="0"/>
            <a:r>
              <a:rPr lang="bg-BG" sz="2000" dirty="0" err="1">
                <a:solidFill>
                  <a:schemeClr val="bg1"/>
                </a:solidFill>
              </a:rPr>
              <a:t>total_price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is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better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than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tp</a:t>
            </a:r>
            <a:endParaRPr lang="en-US" sz="2000" dirty="0">
              <a:solidFill>
                <a:schemeClr val="bg1"/>
              </a:solidFill>
            </a:endParaRPr>
          </a:p>
          <a:p>
            <a:pPr lvl="0"/>
            <a:endParaRPr lang="bg-BG" sz="2000" dirty="0">
              <a:solidFill>
                <a:schemeClr val="bg1"/>
              </a:solidFill>
            </a:endParaRPr>
          </a:p>
          <a:p>
            <a:r>
              <a:rPr lang="bg-BG" sz="2000" dirty="0" err="1">
                <a:solidFill>
                  <a:schemeClr val="bg1"/>
                </a:solidFill>
              </a:rPr>
              <a:t>Python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programmers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usually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use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snake_case</a:t>
            </a:r>
            <a:r>
              <a:rPr lang="bg-BG" sz="2000" dirty="0">
                <a:solidFill>
                  <a:schemeClr val="bg1"/>
                </a:solidFill>
              </a:rPr>
              <a:t> (</a:t>
            </a:r>
            <a:r>
              <a:rPr lang="bg-BG" sz="2000" dirty="0" err="1">
                <a:solidFill>
                  <a:schemeClr val="bg1"/>
                </a:solidFill>
              </a:rPr>
              <a:t>lowercase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with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underscores</a:t>
            </a:r>
            <a:r>
              <a:rPr lang="bg-BG" sz="2000" dirty="0">
                <a:solidFill>
                  <a:schemeClr val="bg1"/>
                </a:solidFill>
              </a:rPr>
              <a:t>)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bg-BG" sz="2000" dirty="0" err="1">
                <a:solidFill>
                  <a:schemeClr val="bg1"/>
                </a:solidFill>
              </a:rPr>
              <a:t>Example</a:t>
            </a:r>
            <a:r>
              <a:rPr lang="bg-BG" sz="2000" dirty="0">
                <a:solidFill>
                  <a:schemeClr val="bg1"/>
                </a:solidFill>
              </a:rPr>
              <a:t>: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bg-BG" sz="2000" dirty="0" err="1">
                <a:solidFill>
                  <a:schemeClr val="bg1"/>
                </a:solidFill>
              </a:rPr>
              <a:t>my_first_variable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  <a:br>
              <a:rPr lang="bg-BG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391756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834C-4DE9-C478-929B-71F63A78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E3617FBE-583C-4600-1A1E-A07680B86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339C32-C802-7E88-311F-3E86BE1A4BE0}"/>
              </a:ext>
            </a:extLst>
          </p:cNvPr>
          <p:cNvSpPr txBox="1"/>
          <p:nvPr/>
        </p:nvSpPr>
        <p:spPr>
          <a:xfrm>
            <a:off x="3129549" y="1041339"/>
            <a:ext cx="5100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10</a:t>
            </a:r>
            <a:r>
              <a:rPr lang="bg-BG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Variables in Python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7BA96-EF8F-BAE1-9E55-6AD021F3B3C8}"/>
              </a:ext>
            </a:extLst>
          </p:cNvPr>
          <p:cNvSpPr txBox="1"/>
          <p:nvPr/>
        </p:nvSpPr>
        <p:spPr>
          <a:xfrm>
            <a:off x="2937893" y="585058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E926D4-476B-7EC8-5643-989600A8B1C2}"/>
              </a:ext>
            </a:extLst>
          </p:cNvPr>
          <p:cNvSpPr txBox="1"/>
          <p:nvPr/>
        </p:nvSpPr>
        <p:spPr>
          <a:xfrm>
            <a:off x="797423" y="1671661"/>
            <a:ext cx="50531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10.8 C</a:t>
            </a:r>
            <a:r>
              <a:rPr lang="bg-BG" sz="2400" b="1" dirty="0" err="1">
                <a:solidFill>
                  <a:schemeClr val="bg1"/>
                </a:solidFill>
              </a:rPr>
              <a:t>ommon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Mistakes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with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Variables</a:t>
            </a:r>
            <a:endParaRPr lang="bg-BG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69BE3C-46E3-B463-D7BF-24AF5FBA96AF}"/>
              </a:ext>
            </a:extLst>
          </p:cNvPr>
          <p:cNvSpPr txBox="1"/>
          <p:nvPr/>
        </p:nvSpPr>
        <p:spPr>
          <a:xfrm>
            <a:off x="797423" y="2447301"/>
            <a:ext cx="48821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</a:t>
            </a:r>
            <a:r>
              <a:rPr lang="bg-BG" dirty="0" err="1">
                <a:solidFill>
                  <a:schemeClr val="bg1"/>
                </a:solidFill>
              </a:rPr>
              <a:t>age</a:t>
            </a:r>
            <a:r>
              <a:rPr lang="bg-BG" dirty="0">
                <a:solidFill>
                  <a:schemeClr val="bg1"/>
                </a:solidFill>
              </a:rPr>
              <a:t>)</a:t>
            </a:r>
          </a:p>
          <a:p>
            <a:r>
              <a:rPr lang="bg-BG" dirty="0" err="1">
                <a:solidFill>
                  <a:schemeClr val="bg1"/>
                </a:solidFill>
              </a:rPr>
              <a:t>age</a:t>
            </a:r>
            <a:r>
              <a:rPr lang="bg-BG" dirty="0">
                <a:solidFill>
                  <a:schemeClr val="bg1"/>
                </a:solidFill>
              </a:rPr>
              <a:t> = 20</a:t>
            </a:r>
          </a:p>
          <a:p>
            <a:r>
              <a:rPr lang="en-US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Error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NameError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 '</a:t>
            </a:r>
            <a:r>
              <a:rPr lang="bg-BG" dirty="0" err="1">
                <a:solidFill>
                  <a:schemeClr val="bg1"/>
                </a:solidFill>
              </a:rPr>
              <a:t>age</a:t>
            </a:r>
            <a:r>
              <a:rPr lang="bg-BG" dirty="0">
                <a:solidFill>
                  <a:schemeClr val="bg1"/>
                </a:solidFill>
              </a:rPr>
              <a:t>' </a:t>
            </a:r>
            <a:r>
              <a:rPr lang="bg-BG" dirty="0" err="1">
                <a:solidFill>
                  <a:schemeClr val="bg1"/>
                </a:solidFill>
              </a:rPr>
              <a:t>is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not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defined</a:t>
            </a:r>
            <a:endParaRPr lang="bg-BG" dirty="0">
              <a:solidFill>
                <a:schemeClr val="bg1"/>
              </a:solidFill>
            </a:endParaRPr>
          </a:p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Forgetting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quotes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around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text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 = </a:t>
            </a:r>
            <a:r>
              <a:rPr lang="bg-BG" dirty="0" err="1">
                <a:solidFill>
                  <a:schemeClr val="bg1"/>
                </a:solidFill>
              </a:rPr>
              <a:t>Alice</a:t>
            </a:r>
            <a:endParaRPr lang="en-US" dirty="0">
              <a:solidFill>
                <a:schemeClr val="bg1"/>
              </a:solidFill>
            </a:endParaRPr>
          </a:p>
          <a:p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Error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NameError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 '</a:t>
            </a:r>
            <a:r>
              <a:rPr lang="bg-BG" dirty="0" err="1">
                <a:solidFill>
                  <a:schemeClr val="bg1"/>
                </a:solidFill>
              </a:rPr>
              <a:t>Alice</a:t>
            </a:r>
            <a:r>
              <a:rPr lang="bg-BG" dirty="0">
                <a:solidFill>
                  <a:schemeClr val="bg1"/>
                </a:solidFill>
              </a:rPr>
              <a:t>' </a:t>
            </a:r>
            <a:r>
              <a:rPr lang="bg-BG" dirty="0" err="1">
                <a:solidFill>
                  <a:schemeClr val="bg1"/>
                </a:solidFill>
              </a:rPr>
              <a:t>is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not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defined</a:t>
            </a:r>
            <a:br>
              <a:rPr lang="bg-BG" dirty="0">
                <a:solidFill>
                  <a:schemeClr val="bg1"/>
                </a:solidFill>
              </a:rPr>
            </a:br>
            <a:r>
              <a:rPr lang="bg-BG" dirty="0" err="1">
                <a:solidFill>
                  <a:schemeClr val="bg1"/>
                </a:solidFill>
              </a:rPr>
              <a:t>Fix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 = "</a:t>
            </a:r>
            <a:r>
              <a:rPr lang="bg-BG" dirty="0" err="1">
                <a:solidFill>
                  <a:schemeClr val="bg1"/>
                </a:solidFill>
              </a:rPr>
              <a:t>Alice</a:t>
            </a:r>
            <a:r>
              <a:rPr lang="bg-BG" dirty="0">
                <a:solidFill>
                  <a:schemeClr val="bg1"/>
                </a:solidFill>
              </a:rPr>
              <a:t>“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F0777-AC6F-6518-CBD7-A361C0E6AD90}"/>
              </a:ext>
            </a:extLst>
          </p:cNvPr>
          <p:cNvSpPr txBox="1"/>
          <p:nvPr/>
        </p:nvSpPr>
        <p:spPr>
          <a:xfrm>
            <a:off x="5756225" y="2447301"/>
            <a:ext cx="274735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age</a:t>
            </a:r>
            <a:r>
              <a:rPr lang="bg-BG" dirty="0">
                <a:solidFill>
                  <a:schemeClr val="bg1"/>
                </a:solidFill>
              </a:rPr>
              <a:t> = 20</a:t>
            </a: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("</a:t>
            </a:r>
            <a:r>
              <a:rPr lang="bg-BG" dirty="0" err="1">
                <a:solidFill>
                  <a:schemeClr val="bg1"/>
                </a:solidFill>
              </a:rPr>
              <a:t>Age</a:t>
            </a:r>
            <a:r>
              <a:rPr lang="bg-BG" dirty="0">
                <a:solidFill>
                  <a:schemeClr val="bg1"/>
                </a:solidFill>
              </a:rPr>
              <a:t>: " + </a:t>
            </a:r>
            <a:r>
              <a:rPr lang="bg-BG" dirty="0" err="1">
                <a:solidFill>
                  <a:schemeClr val="bg1"/>
                </a:solidFill>
              </a:rPr>
              <a:t>age</a:t>
            </a:r>
            <a:r>
              <a:rPr lang="bg-BG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Error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TypeError</a:t>
            </a:r>
            <a:br>
              <a:rPr lang="bg-BG" dirty="0">
                <a:solidFill>
                  <a:schemeClr val="bg1"/>
                </a:solidFill>
              </a:rPr>
            </a:br>
            <a:r>
              <a:rPr lang="bg-BG" dirty="0" err="1">
                <a:solidFill>
                  <a:schemeClr val="bg1"/>
                </a:solidFill>
              </a:rPr>
              <a:t>Fix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("</a:t>
            </a:r>
            <a:r>
              <a:rPr lang="bg-BG" dirty="0" err="1">
                <a:solidFill>
                  <a:schemeClr val="bg1"/>
                </a:solidFill>
              </a:rPr>
              <a:t>Age</a:t>
            </a:r>
            <a:r>
              <a:rPr lang="bg-BG" dirty="0">
                <a:solidFill>
                  <a:schemeClr val="bg1"/>
                </a:solidFill>
              </a:rPr>
              <a:t>: " + </a:t>
            </a:r>
            <a:r>
              <a:rPr lang="bg-BG" dirty="0" err="1">
                <a:solidFill>
                  <a:schemeClr val="bg1"/>
                </a:solidFill>
              </a:rPr>
              <a:t>str</a:t>
            </a:r>
            <a:r>
              <a:rPr lang="bg-BG" dirty="0">
                <a:solidFill>
                  <a:schemeClr val="bg1"/>
                </a:solidFill>
              </a:rPr>
              <a:t>(</a:t>
            </a:r>
            <a:r>
              <a:rPr lang="bg-BG" dirty="0" err="1">
                <a:solidFill>
                  <a:schemeClr val="bg1"/>
                </a:solidFill>
              </a:rPr>
              <a:t>age</a:t>
            </a:r>
            <a:r>
              <a:rPr lang="bg-BG" dirty="0">
                <a:solidFill>
                  <a:schemeClr val="bg1"/>
                </a:solidFill>
              </a:rPr>
              <a:t>))</a:t>
            </a:r>
          </a:p>
          <a:p>
            <a:endParaRPr lang="bg-B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29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1196C-208A-DEBA-C260-AD7763585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B91BA7ED-C2C7-1AEC-267F-8962FCEAE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63A132-E6EC-245F-34C1-491007D37B58}"/>
              </a:ext>
            </a:extLst>
          </p:cNvPr>
          <p:cNvSpPr txBox="1"/>
          <p:nvPr/>
        </p:nvSpPr>
        <p:spPr>
          <a:xfrm>
            <a:off x="3129549" y="1041339"/>
            <a:ext cx="5100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10</a:t>
            </a:r>
            <a:r>
              <a:rPr lang="bg-BG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Variables in Python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62C18-7A85-EF03-AA59-7A04DE434CF0}"/>
              </a:ext>
            </a:extLst>
          </p:cNvPr>
          <p:cNvSpPr txBox="1"/>
          <p:nvPr/>
        </p:nvSpPr>
        <p:spPr>
          <a:xfrm>
            <a:off x="2937893" y="585058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D93EFC-A4E9-FCA2-6F2A-DC2B24BBA2D5}"/>
              </a:ext>
            </a:extLst>
          </p:cNvPr>
          <p:cNvSpPr txBox="1"/>
          <p:nvPr/>
        </p:nvSpPr>
        <p:spPr>
          <a:xfrm>
            <a:off x="797423" y="1671661"/>
            <a:ext cx="47250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10.9 Multiple Variables on One Line</a:t>
            </a:r>
            <a:endParaRPr lang="bg-BG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54D53-2244-3103-2166-0D90FA48DFBB}"/>
              </a:ext>
            </a:extLst>
          </p:cNvPr>
          <p:cNvSpPr txBox="1"/>
          <p:nvPr/>
        </p:nvSpPr>
        <p:spPr>
          <a:xfrm>
            <a:off x="797423" y="2351124"/>
            <a:ext cx="48821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bg-BG" dirty="0" err="1">
                <a:solidFill>
                  <a:schemeClr val="bg1"/>
                </a:solidFill>
              </a:rPr>
              <a:t>ssign</a:t>
            </a:r>
            <a:r>
              <a:rPr lang="en-US" dirty="0" err="1">
                <a:solidFill>
                  <a:schemeClr val="bg1"/>
                </a:solidFill>
              </a:rPr>
              <a:t>ing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several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variables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once</a:t>
            </a:r>
            <a:r>
              <a:rPr lang="bg-BG" dirty="0">
                <a:solidFill>
                  <a:schemeClr val="bg1"/>
                </a:solidFill>
              </a:rPr>
              <a:t> :</a:t>
            </a:r>
            <a:endParaRPr lang="en-US" dirty="0">
              <a:solidFill>
                <a:schemeClr val="bg1"/>
              </a:solidFill>
            </a:endParaRPr>
          </a:p>
          <a:p>
            <a:endParaRPr lang="bg-BG" dirty="0">
              <a:solidFill>
                <a:schemeClr val="bg1"/>
              </a:solidFill>
            </a:endParaRPr>
          </a:p>
          <a:p>
            <a:r>
              <a:rPr lang="bg-BG" dirty="0">
                <a:solidFill>
                  <a:schemeClr val="bg1"/>
                </a:solidFill>
              </a:rPr>
              <a:t>a, b, c = 10, 20, 30</a:t>
            </a: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(a, b, c)</a:t>
            </a:r>
            <a:endParaRPr lang="en-US" dirty="0">
              <a:solidFill>
                <a:schemeClr val="bg1"/>
              </a:solidFill>
            </a:endParaRPr>
          </a:p>
          <a:p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Output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>
                <a:solidFill>
                  <a:schemeClr val="bg1"/>
                </a:solidFill>
              </a:rPr>
              <a:t>10 20 30</a:t>
            </a:r>
            <a:endParaRPr lang="en-US" dirty="0">
              <a:solidFill>
                <a:schemeClr val="bg1"/>
              </a:solidFill>
            </a:endParaRPr>
          </a:p>
          <a:p>
            <a:endParaRPr lang="bg-BG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bg-BG" dirty="0" err="1">
                <a:solidFill>
                  <a:schemeClr val="bg1"/>
                </a:solidFill>
              </a:rPr>
              <a:t>ssign</a:t>
            </a:r>
            <a:r>
              <a:rPr lang="en-US" dirty="0" err="1">
                <a:solidFill>
                  <a:schemeClr val="bg1"/>
                </a:solidFill>
              </a:rPr>
              <a:t>ing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same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value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multiple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variables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>
                <a:solidFill>
                  <a:schemeClr val="bg1"/>
                </a:solidFill>
              </a:rPr>
              <a:t>x = y = z = 100</a:t>
            </a:r>
          </a:p>
        </p:txBody>
      </p:sp>
    </p:spTree>
    <p:extLst>
      <p:ext uri="{BB962C8B-B14F-4D97-AF65-F5344CB8AC3E}">
        <p14:creationId xmlns:p14="http://schemas.microsoft.com/office/powerpoint/2010/main" val="4281701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18D0-84B5-9FF6-C642-46688AED1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24375E48-BA2F-4405-01CF-7FCCDC967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0BD231-8A34-4E4E-BC56-58E3ACCCFC13}"/>
              </a:ext>
            </a:extLst>
          </p:cNvPr>
          <p:cNvSpPr txBox="1"/>
          <p:nvPr/>
        </p:nvSpPr>
        <p:spPr>
          <a:xfrm>
            <a:off x="3129549" y="1041339"/>
            <a:ext cx="5100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10</a:t>
            </a:r>
            <a:r>
              <a:rPr lang="bg-BG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Variables in Python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047E1-68BD-3276-0C06-41857DBB90EF}"/>
              </a:ext>
            </a:extLst>
          </p:cNvPr>
          <p:cNvSpPr txBox="1"/>
          <p:nvPr/>
        </p:nvSpPr>
        <p:spPr>
          <a:xfrm>
            <a:off x="2937893" y="585058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91CF69-E7D7-2B96-4FF8-4F57DC02C3C2}"/>
              </a:ext>
            </a:extLst>
          </p:cNvPr>
          <p:cNvSpPr txBox="1"/>
          <p:nvPr/>
        </p:nvSpPr>
        <p:spPr>
          <a:xfrm>
            <a:off x="797423" y="1671661"/>
            <a:ext cx="330314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10.10 Variables in action</a:t>
            </a:r>
            <a:endParaRPr lang="bg-BG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D1EF33-1F22-0A57-3F0C-9BC48BD6CFAA}"/>
              </a:ext>
            </a:extLst>
          </p:cNvPr>
          <p:cNvSpPr txBox="1"/>
          <p:nvPr/>
        </p:nvSpPr>
        <p:spPr>
          <a:xfrm>
            <a:off x="797423" y="2351124"/>
            <a:ext cx="48821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first_name</a:t>
            </a:r>
            <a:r>
              <a:rPr lang="bg-BG" dirty="0">
                <a:solidFill>
                  <a:schemeClr val="bg1"/>
                </a:solidFill>
              </a:rPr>
              <a:t> = "Alex"</a:t>
            </a:r>
          </a:p>
          <a:p>
            <a:r>
              <a:rPr lang="bg-BG" dirty="0" err="1">
                <a:solidFill>
                  <a:schemeClr val="bg1"/>
                </a:solidFill>
              </a:rPr>
              <a:t>last_name</a:t>
            </a:r>
            <a:r>
              <a:rPr lang="bg-BG" dirty="0">
                <a:solidFill>
                  <a:schemeClr val="bg1"/>
                </a:solidFill>
              </a:rPr>
              <a:t> = "Johnson"</a:t>
            </a:r>
          </a:p>
          <a:p>
            <a:r>
              <a:rPr lang="bg-BG" dirty="0" err="1">
                <a:solidFill>
                  <a:schemeClr val="bg1"/>
                </a:solidFill>
              </a:rPr>
              <a:t>age</a:t>
            </a:r>
            <a:r>
              <a:rPr lang="bg-BG" dirty="0">
                <a:solidFill>
                  <a:schemeClr val="bg1"/>
                </a:solidFill>
              </a:rPr>
              <a:t> = 21</a:t>
            </a:r>
          </a:p>
          <a:p>
            <a:r>
              <a:rPr lang="en-US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("</a:t>
            </a:r>
            <a:r>
              <a:rPr lang="bg-BG" dirty="0" err="1">
                <a:solidFill>
                  <a:schemeClr val="bg1"/>
                </a:solidFill>
              </a:rPr>
              <a:t>Hello</a:t>
            </a:r>
            <a:r>
              <a:rPr lang="bg-BG" dirty="0">
                <a:solidFill>
                  <a:schemeClr val="bg1"/>
                </a:solidFill>
              </a:rPr>
              <a:t>,", </a:t>
            </a:r>
            <a:r>
              <a:rPr lang="bg-BG" dirty="0" err="1">
                <a:solidFill>
                  <a:schemeClr val="bg1"/>
                </a:solidFill>
              </a:rPr>
              <a:t>first_name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last_name</a:t>
            </a:r>
            <a:r>
              <a:rPr lang="bg-BG" dirty="0">
                <a:solidFill>
                  <a:schemeClr val="bg1"/>
                </a:solidFill>
              </a:rPr>
              <a:t>)</a:t>
            </a: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("</a:t>
            </a:r>
            <a:r>
              <a:rPr lang="bg-BG" dirty="0" err="1">
                <a:solidFill>
                  <a:schemeClr val="bg1"/>
                </a:solidFill>
              </a:rPr>
              <a:t>You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are</a:t>
            </a:r>
            <a:r>
              <a:rPr lang="bg-BG" dirty="0">
                <a:solidFill>
                  <a:schemeClr val="bg1"/>
                </a:solidFill>
              </a:rPr>
              <a:t>", </a:t>
            </a:r>
            <a:r>
              <a:rPr lang="bg-BG" dirty="0" err="1">
                <a:solidFill>
                  <a:schemeClr val="bg1"/>
                </a:solidFill>
              </a:rPr>
              <a:t>age</a:t>
            </a:r>
            <a:r>
              <a:rPr lang="bg-BG" dirty="0">
                <a:solidFill>
                  <a:schemeClr val="bg1"/>
                </a:solidFill>
              </a:rPr>
              <a:t>, "</a:t>
            </a:r>
            <a:r>
              <a:rPr lang="bg-BG" dirty="0" err="1">
                <a:solidFill>
                  <a:schemeClr val="bg1"/>
                </a:solidFill>
              </a:rPr>
              <a:t>years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old</a:t>
            </a:r>
            <a:r>
              <a:rPr lang="bg-BG" dirty="0">
                <a:solidFill>
                  <a:schemeClr val="bg1"/>
                </a:solidFill>
              </a:rPr>
              <a:t>.")</a:t>
            </a:r>
          </a:p>
          <a:p>
            <a:r>
              <a:rPr lang="en-US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Output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 err="1">
                <a:solidFill>
                  <a:schemeClr val="bg1"/>
                </a:solidFill>
              </a:rPr>
              <a:t>Hello</a:t>
            </a:r>
            <a:r>
              <a:rPr lang="bg-BG" dirty="0">
                <a:solidFill>
                  <a:schemeClr val="bg1"/>
                </a:solidFill>
              </a:rPr>
              <a:t>, Alex Johnson!</a:t>
            </a:r>
          </a:p>
          <a:p>
            <a:r>
              <a:rPr lang="bg-BG" dirty="0" err="1">
                <a:solidFill>
                  <a:schemeClr val="bg1"/>
                </a:solidFill>
              </a:rPr>
              <a:t>You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are</a:t>
            </a:r>
            <a:r>
              <a:rPr lang="bg-BG" dirty="0">
                <a:solidFill>
                  <a:schemeClr val="bg1"/>
                </a:solidFill>
              </a:rPr>
              <a:t> 21 </a:t>
            </a:r>
            <a:r>
              <a:rPr lang="bg-BG" dirty="0" err="1">
                <a:solidFill>
                  <a:schemeClr val="bg1"/>
                </a:solidFill>
              </a:rPr>
              <a:t>years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old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0980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6012-3DA1-31A6-88A0-600D4F8A9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54BF01B8-B1A4-D037-25C7-95D2D7E25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D9E48D-C41E-9C5F-E48F-70EAE92F0FBE}"/>
              </a:ext>
            </a:extLst>
          </p:cNvPr>
          <p:cNvSpPr txBox="1"/>
          <p:nvPr/>
        </p:nvSpPr>
        <p:spPr>
          <a:xfrm>
            <a:off x="3129549" y="1041339"/>
            <a:ext cx="5100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10</a:t>
            </a:r>
            <a:r>
              <a:rPr lang="bg-BG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Variables in Python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4A160-2D0B-E43F-DE19-1919F435FFA6}"/>
              </a:ext>
            </a:extLst>
          </p:cNvPr>
          <p:cNvSpPr txBox="1"/>
          <p:nvPr/>
        </p:nvSpPr>
        <p:spPr>
          <a:xfrm>
            <a:off x="2937893" y="585058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4AAA5-A274-13DC-76F5-AD7B490B51A9}"/>
              </a:ext>
            </a:extLst>
          </p:cNvPr>
          <p:cNvSpPr txBox="1"/>
          <p:nvPr/>
        </p:nvSpPr>
        <p:spPr>
          <a:xfrm>
            <a:off x="797423" y="1671661"/>
            <a:ext cx="21769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10.11 Summary</a:t>
            </a:r>
            <a:endParaRPr lang="bg-BG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5A569-532F-25A7-BE49-6295BDE09387}"/>
              </a:ext>
            </a:extLst>
          </p:cNvPr>
          <p:cNvSpPr txBox="1"/>
          <p:nvPr/>
        </p:nvSpPr>
        <p:spPr>
          <a:xfrm>
            <a:off x="797422" y="2593201"/>
            <a:ext cx="67415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auto"/>
            <a:r>
              <a:rPr lang="bg-BG" dirty="0">
                <a:solidFill>
                  <a:schemeClr val="bg1"/>
                </a:solidFill>
              </a:rPr>
              <a:t>A </a:t>
            </a:r>
            <a:r>
              <a:rPr lang="bg-BG" b="1" dirty="0" err="1">
                <a:solidFill>
                  <a:schemeClr val="bg1"/>
                </a:solidFill>
              </a:rPr>
              <a:t>variable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stores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information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that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your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program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can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use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and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modify</a:t>
            </a:r>
            <a:r>
              <a:rPr lang="bg-B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lvl="0" fontAlgn="auto"/>
            <a:endParaRPr lang="bg-BG" dirty="0">
              <a:solidFill>
                <a:schemeClr val="bg1"/>
              </a:solidFill>
            </a:endParaRPr>
          </a:p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You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create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one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using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 = </a:t>
            </a:r>
            <a:r>
              <a:rPr lang="bg-BG" dirty="0" err="1">
                <a:solidFill>
                  <a:schemeClr val="bg1"/>
                </a:solidFill>
              </a:rPr>
              <a:t>value</a:t>
            </a:r>
            <a:r>
              <a:rPr lang="bg-B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lvl="0" fontAlgn="auto"/>
            <a:endParaRPr lang="bg-BG" dirty="0">
              <a:solidFill>
                <a:schemeClr val="bg1"/>
              </a:solidFill>
            </a:endParaRPr>
          </a:p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Variables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can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change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your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program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runs</a:t>
            </a:r>
            <a:r>
              <a:rPr lang="bg-B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lvl="0" fontAlgn="auto"/>
            <a:endParaRPr lang="bg-BG" dirty="0">
              <a:solidFill>
                <a:schemeClr val="bg1"/>
              </a:solidFill>
            </a:endParaRPr>
          </a:p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Clear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descriptive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names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make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your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code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readable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7553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BAD46-13F7-8CB0-A529-232264422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5A2498A8-A644-45E5-720E-58FDA918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4E6365-E09F-7187-1325-61DCFFB8E583}"/>
              </a:ext>
            </a:extLst>
          </p:cNvPr>
          <p:cNvSpPr txBox="1"/>
          <p:nvPr/>
        </p:nvSpPr>
        <p:spPr>
          <a:xfrm>
            <a:off x="3129549" y="1041339"/>
            <a:ext cx="51000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10</a:t>
            </a:r>
            <a:r>
              <a:rPr lang="bg-BG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Variables in Python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84E9D-57D4-9684-8370-541B62989D73}"/>
              </a:ext>
            </a:extLst>
          </p:cNvPr>
          <p:cNvSpPr txBox="1"/>
          <p:nvPr/>
        </p:nvSpPr>
        <p:spPr>
          <a:xfrm>
            <a:off x="2937893" y="5850586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114065-C490-D588-0D11-2734AA2CD823}"/>
              </a:ext>
            </a:extLst>
          </p:cNvPr>
          <p:cNvSpPr txBox="1"/>
          <p:nvPr/>
        </p:nvSpPr>
        <p:spPr>
          <a:xfrm>
            <a:off x="2657704" y="2967734"/>
            <a:ext cx="422865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10.12 FINAL THOUGHTS</a:t>
            </a:r>
            <a:endParaRPr lang="bg-BG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027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723</Words>
  <Application>Microsoft Office PowerPoint</Application>
  <PresentationFormat>On-screen Show (4:3)</PresentationFormat>
  <Paragraphs>154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Marian Milushev</cp:lastModifiedBy>
  <cp:revision>4</cp:revision>
  <dcterms:created xsi:type="dcterms:W3CDTF">2013-01-27T09:14:16Z</dcterms:created>
  <dcterms:modified xsi:type="dcterms:W3CDTF">2025-11-06T12:26:11Z</dcterms:modified>
  <cp:category/>
</cp:coreProperties>
</file>