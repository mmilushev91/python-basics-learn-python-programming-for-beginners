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23769-6EA4-4D70-BB3E-D3931EACF045}" type="datetimeFigureOut">
              <a:rPr lang="bg-BG" smtClean="0"/>
              <a:t>4.11.2025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79E0D-CFD0-4499-9B71-4D451D882AC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701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9E0D-CFD0-4499-9B71-4D451D882AC3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59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622A-76A3-2AAC-B9B9-0B688600D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3F7DF-1D93-1059-F2DA-3FCB38FEB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B7345-5BBA-3A21-AB43-F1E4CF895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73EAD-153D-6FF0-615E-5E465529F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9E0D-CFD0-4499-9B71-4D451D882AC3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1230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BDAFF-46A9-090F-158F-BCF97ECF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63AB5-6E47-3A5B-B3F2-67D6E1429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C3A81-3157-F8E7-5A5D-79FE8191E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22E0D-3D2A-B0C3-5E10-7D4DA258A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9E0D-CFD0-4499-9B71-4D451D882AC3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27317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D9387-8183-8FDB-9E19-7E72C217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63A43-2A47-5C2A-F575-27CE2F29C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7566A-CF5D-735F-6EB1-902AAEBFD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23696-9609-B080-0781-E1E779FEE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9E0D-CFD0-4499-9B71-4D451D882AC3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32574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9560-B525-E3A1-1D9E-1C6E35A3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D0EAD-518C-616B-93E1-70A66735B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1E0F8-6EF0-A4B8-F192-F902015DB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E0F3B-0364-7A1E-23F7-1694C6301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9E0D-CFD0-4499-9B71-4D451D882AC3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96936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45531" y="3027248"/>
            <a:ext cx="575676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SECTION 4 – What is Python?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705821" y="5699133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312E-6DC8-B581-8E66-840F2DE6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FC62C93B-F058-7D76-70A1-2E32DAD8A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05E11-CB6E-81C1-7F63-66A0451DD59F}"/>
              </a:ext>
            </a:extLst>
          </p:cNvPr>
          <p:cNvSpPr txBox="1"/>
          <p:nvPr/>
        </p:nvSpPr>
        <p:spPr>
          <a:xfrm>
            <a:off x="2752928" y="914400"/>
            <a:ext cx="51399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200" dirty="0"/>
              <a:t>SECTION 4 – What is Python?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CD77F6-78FF-075C-E550-17C04A8453A7}"/>
              </a:ext>
            </a:extLst>
          </p:cNvPr>
          <p:cNvSpPr txBox="1"/>
          <p:nvPr/>
        </p:nvSpPr>
        <p:spPr>
          <a:xfrm>
            <a:off x="982494" y="1564559"/>
            <a:ext cx="25011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4.1 Definition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7234E-4EC9-0A2D-9169-56D58243CF39}"/>
              </a:ext>
            </a:extLst>
          </p:cNvPr>
          <p:cNvSpPr txBox="1"/>
          <p:nvPr/>
        </p:nvSpPr>
        <p:spPr>
          <a:xfrm>
            <a:off x="1183045" y="2070478"/>
            <a:ext cx="697846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One of the most popular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High-level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Dynamic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Easy-to-read programming language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Makes coding simple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Powerful, and fun.</a:t>
            </a:r>
            <a:endParaRPr lang="bg-BG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42A89-69AD-18A2-3BD0-72598D8F7EFA}"/>
              </a:ext>
            </a:extLst>
          </p:cNvPr>
          <p:cNvSpPr txBox="1"/>
          <p:nvPr/>
        </p:nvSpPr>
        <p:spPr>
          <a:xfrm>
            <a:off x="2705821" y="611965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718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C5A5-3CB2-AA15-E09B-BBAAD39F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EE03D5FB-665B-4590-0E04-0025F8A84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4B7282-9C30-45C4-85F3-D2EE047F8924}"/>
              </a:ext>
            </a:extLst>
          </p:cNvPr>
          <p:cNvSpPr txBox="1"/>
          <p:nvPr/>
        </p:nvSpPr>
        <p:spPr>
          <a:xfrm>
            <a:off x="2752928" y="914400"/>
            <a:ext cx="51399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200" dirty="0"/>
              <a:t>SECTION 4 – What is Python?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DF4B-B2F2-8FCE-7C8A-18349EED73B5}"/>
              </a:ext>
            </a:extLst>
          </p:cNvPr>
          <p:cNvSpPr txBox="1"/>
          <p:nvPr/>
        </p:nvSpPr>
        <p:spPr>
          <a:xfrm>
            <a:off x="1108647" y="1582420"/>
            <a:ext cx="53422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4.2 Why Python is so popular?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9F8FB-2085-761B-A55E-08D4C66EFD43}"/>
              </a:ext>
            </a:extLst>
          </p:cNvPr>
          <p:cNvSpPr txBox="1"/>
          <p:nvPr/>
        </p:nvSpPr>
        <p:spPr>
          <a:xfrm>
            <a:off x="1191266" y="2559513"/>
            <a:ext cx="69784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bg-BG" dirty="0" err="1">
                <a:solidFill>
                  <a:schemeClr val="bg1"/>
                </a:solidFill>
              </a:rPr>
              <a:t>Easy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Read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Write</a:t>
            </a:r>
            <a:endParaRPr lang="en-US" dirty="0">
              <a:solidFill>
                <a:schemeClr val="bg1"/>
              </a:solidFill>
            </a:endParaRPr>
          </a:p>
          <a:p>
            <a:pPr lvl="0"/>
            <a:endParaRPr lang="bg-BG" dirty="0">
              <a:solidFill>
                <a:schemeClr val="bg1"/>
              </a:solidFill>
            </a:endParaRPr>
          </a:p>
          <a:p>
            <a:pPr lvl="0"/>
            <a:r>
              <a:rPr lang="bg-BG" dirty="0" err="1">
                <a:solidFill>
                  <a:schemeClr val="bg1"/>
                </a:solidFill>
              </a:rPr>
              <a:t>Powerful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Versatile</a:t>
            </a:r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bg-BG" dirty="0" err="1">
                <a:solidFill>
                  <a:schemeClr val="bg1"/>
                </a:solidFill>
              </a:rPr>
              <a:t>Huge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Community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Libraries</a:t>
            </a:r>
            <a:r>
              <a:rPr lang="bg-BG" dirty="0">
                <a:solidFill>
                  <a:schemeClr val="bg1"/>
                </a:solidFill>
              </a:rPr>
              <a:t>  </a:t>
            </a:r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r>
              <a:rPr lang="bg-BG" dirty="0">
                <a:solidFill>
                  <a:schemeClr val="bg1"/>
                </a:solidFill>
              </a:rPr>
              <a:t>Works </a:t>
            </a:r>
            <a:r>
              <a:rPr lang="bg-BG" dirty="0" err="1">
                <a:solidFill>
                  <a:schemeClr val="bg1"/>
                </a:solidFill>
              </a:rPr>
              <a:t>Everywhere</a:t>
            </a:r>
            <a:r>
              <a:rPr lang="bg-BG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8DE961-8FD5-8730-8289-F7F4AF3B177F}"/>
              </a:ext>
            </a:extLst>
          </p:cNvPr>
          <p:cNvSpPr txBox="1"/>
          <p:nvPr/>
        </p:nvSpPr>
        <p:spPr>
          <a:xfrm>
            <a:off x="2705821" y="611965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51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3FC5-26CB-C7F7-EE3B-4CE8B6EBC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C1375548-9A60-5AD9-68AE-C7188C5FA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E229D0-3FE4-7116-2A92-153936C37E23}"/>
              </a:ext>
            </a:extLst>
          </p:cNvPr>
          <p:cNvSpPr txBox="1"/>
          <p:nvPr/>
        </p:nvSpPr>
        <p:spPr>
          <a:xfrm>
            <a:off x="2752928" y="914400"/>
            <a:ext cx="51399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200" dirty="0"/>
              <a:t>SECTION 4 – What is Python?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BD1F3-E8D5-AE51-B3A7-E860833ECA1F}"/>
              </a:ext>
            </a:extLst>
          </p:cNvPr>
          <p:cNvSpPr txBox="1"/>
          <p:nvPr/>
        </p:nvSpPr>
        <p:spPr>
          <a:xfrm>
            <a:off x="1017485" y="1634855"/>
            <a:ext cx="43054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4.3 </a:t>
            </a:r>
            <a:r>
              <a:rPr lang="bg-BG" sz="3200" b="1" dirty="0" err="1"/>
              <a:t>What</a:t>
            </a:r>
            <a:r>
              <a:rPr lang="bg-BG" sz="3200" b="1" dirty="0"/>
              <a:t> </a:t>
            </a:r>
            <a:r>
              <a:rPr lang="bg-BG" sz="3200" b="1" dirty="0" err="1"/>
              <a:t>Python</a:t>
            </a:r>
            <a:r>
              <a:rPr lang="bg-BG" sz="3200" b="1" dirty="0"/>
              <a:t> </a:t>
            </a:r>
            <a:r>
              <a:rPr lang="bg-BG" sz="3200" b="1" dirty="0" err="1"/>
              <a:t>Looks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301C0-973A-C6E6-682D-F12FE270E713}"/>
              </a:ext>
            </a:extLst>
          </p:cNvPr>
          <p:cNvSpPr txBox="1"/>
          <p:nvPr/>
        </p:nvSpPr>
        <p:spPr>
          <a:xfrm>
            <a:off x="2165539" y="2205315"/>
            <a:ext cx="69784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Python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bg-BG" sz="2400" dirty="0" err="1">
                <a:solidFill>
                  <a:schemeClr val="bg1"/>
                </a:solidFill>
              </a:rPr>
              <a:t>еxample</a:t>
            </a:r>
            <a:r>
              <a:rPr lang="bg-BG" sz="2400" dirty="0">
                <a:solidFill>
                  <a:schemeClr val="bg1"/>
                </a:solidFill>
              </a:rPr>
              <a:t>:</a:t>
            </a:r>
            <a:endParaRPr lang="en-US" sz="2400" dirty="0">
              <a:solidFill>
                <a:schemeClr val="bg1"/>
              </a:solidFill>
            </a:endParaRPr>
          </a:p>
          <a:p>
            <a:endParaRPr lang="bg-BG" sz="2400" dirty="0">
              <a:solidFill>
                <a:schemeClr val="bg1"/>
              </a:solidFill>
            </a:endParaRPr>
          </a:p>
          <a:p>
            <a:r>
              <a:rPr lang="bg-BG" sz="2400" dirty="0" err="1">
                <a:solidFill>
                  <a:schemeClr val="bg1"/>
                </a:solidFill>
              </a:rPr>
              <a:t>print</a:t>
            </a:r>
            <a:r>
              <a:rPr lang="bg-BG" sz="2400" dirty="0">
                <a:solidFill>
                  <a:schemeClr val="bg1"/>
                </a:solidFill>
              </a:rPr>
              <a:t>("</a:t>
            </a:r>
            <a:r>
              <a:rPr lang="bg-BG" sz="2400" dirty="0" err="1">
                <a:solidFill>
                  <a:schemeClr val="bg1"/>
                </a:solidFill>
              </a:rPr>
              <a:t>Hello</a:t>
            </a:r>
            <a:r>
              <a:rPr lang="bg-BG" sz="2400" dirty="0">
                <a:solidFill>
                  <a:schemeClr val="bg1"/>
                </a:solidFill>
              </a:rPr>
              <a:t>, </a:t>
            </a:r>
            <a:r>
              <a:rPr lang="bg-BG" sz="2400" dirty="0" err="1">
                <a:solidFill>
                  <a:schemeClr val="bg1"/>
                </a:solidFill>
              </a:rPr>
              <a:t>world</a:t>
            </a:r>
            <a:r>
              <a:rPr lang="bg-BG" sz="2400" dirty="0">
                <a:solidFill>
                  <a:schemeClr val="bg1"/>
                </a:solidFill>
              </a:rPr>
              <a:t>!")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 example: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#include &lt;</a:t>
            </a:r>
            <a:r>
              <a:rPr lang="en-US" sz="2400" dirty="0" err="1">
                <a:solidFill>
                  <a:schemeClr val="bg1"/>
                </a:solidFill>
              </a:rPr>
              <a:t>stdio.h</a:t>
            </a:r>
            <a:r>
              <a:rPr lang="en-US" sz="24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int main()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</a:t>
            </a:r>
            <a:r>
              <a:rPr lang="en-US" sz="2400" dirty="0" err="1">
                <a:solidFill>
                  <a:schemeClr val="bg1"/>
                </a:solidFill>
              </a:rPr>
              <a:t>printf</a:t>
            </a:r>
            <a:r>
              <a:rPr lang="en-US" sz="2400" dirty="0">
                <a:solidFill>
                  <a:schemeClr val="bg1"/>
                </a:solidFill>
              </a:rPr>
              <a:t>("Hello, World!");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return 0;</a:t>
            </a:r>
          </a:p>
          <a:p>
            <a:r>
              <a:rPr lang="en-US" sz="2400" dirty="0">
                <a:solidFill>
                  <a:schemeClr val="bg1"/>
                </a:solidFill>
              </a:rPr>
              <a:t>}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BF554-E017-14E0-400F-23B9D25A0B96}"/>
              </a:ext>
            </a:extLst>
          </p:cNvPr>
          <p:cNvSpPr txBox="1"/>
          <p:nvPr/>
        </p:nvSpPr>
        <p:spPr>
          <a:xfrm>
            <a:off x="2705821" y="611965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3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CF308-2E1F-7074-B4D2-E81E40EA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E5B061E0-2D63-1175-6F5B-8851AC4BD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BE06DF-E12D-8F4F-346F-AF5776C5454C}"/>
              </a:ext>
            </a:extLst>
          </p:cNvPr>
          <p:cNvSpPr txBox="1"/>
          <p:nvPr/>
        </p:nvSpPr>
        <p:spPr>
          <a:xfrm>
            <a:off x="2752928" y="914400"/>
            <a:ext cx="51399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200" dirty="0"/>
              <a:t>SECTION 4 – What is Python?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BF563-3005-8363-0B94-26A6FE72103D}"/>
              </a:ext>
            </a:extLst>
          </p:cNvPr>
          <p:cNvSpPr txBox="1"/>
          <p:nvPr/>
        </p:nvSpPr>
        <p:spPr>
          <a:xfrm>
            <a:off x="1056213" y="2099436"/>
            <a:ext cx="426668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4.4 </a:t>
            </a:r>
            <a:r>
              <a:rPr lang="bg-BG" sz="3200" b="1" dirty="0" err="1"/>
              <a:t>How</a:t>
            </a:r>
            <a:r>
              <a:rPr lang="bg-BG" sz="3200" b="1" dirty="0"/>
              <a:t> </a:t>
            </a:r>
            <a:r>
              <a:rPr lang="bg-BG" sz="3200" b="1" dirty="0" err="1"/>
              <a:t>Python</a:t>
            </a:r>
            <a:r>
              <a:rPr lang="bg-BG" sz="3200" b="1" dirty="0"/>
              <a:t> Works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D6F76-993B-D436-BCF9-5D36691B9934}"/>
              </a:ext>
            </a:extLst>
          </p:cNvPr>
          <p:cNvSpPr txBox="1"/>
          <p:nvPr/>
        </p:nvSpPr>
        <p:spPr>
          <a:xfrm>
            <a:off x="1036849" y="3134030"/>
            <a:ext cx="6978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Python is </a:t>
            </a:r>
            <a:r>
              <a:rPr lang="bg-BG" i="1" dirty="0" err="1">
                <a:solidFill>
                  <a:schemeClr val="bg1"/>
                </a:solidFill>
              </a:rPr>
              <a:t>high-level</a:t>
            </a:r>
            <a:r>
              <a:rPr lang="en-US" i="1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interprete</a:t>
            </a:r>
            <a:r>
              <a:rPr lang="en-US" dirty="0">
                <a:solidFill>
                  <a:schemeClr val="bg1"/>
                </a:solidFill>
              </a:rPr>
              <a:t>d language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interpreter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reads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code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line</a:t>
            </a:r>
            <a:r>
              <a:rPr lang="bg-BG" i="1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by</a:t>
            </a:r>
            <a:r>
              <a:rPr lang="bg-BG" i="1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line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translates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machine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language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executes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instantly</a:t>
            </a:r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CDF40D-7808-C172-633D-A8D566232832}"/>
              </a:ext>
            </a:extLst>
          </p:cNvPr>
          <p:cNvSpPr txBox="1"/>
          <p:nvPr/>
        </p:nvSpPr>
        <p:spPr>
          <a:xfrm>
            <a:off x="2705821" y="611965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748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75F3-2776-D37F-FE21-5E5249C8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001F7767-E6E4-F9E1-16F5-DD747E34D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B6CEB9-6FFA-DA26-29BA-773ECC4DD294}"/>
              </a:ext>
            </a:extLst>
          </p:cNvPr>
          <p:cNvSpPr txBox="1"/>
          <p:nvPr/>
        </p:nvSpPr>
        <p:spPr>
          <a:xfrm>
            <a:off x="2752928" y="914400"/>
            <a:ext cx="51399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200" dirty="0"/>
              <a:t>SECTION 4 – What is Python?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11DE9-BA34-4117-5E79-0E14E29B0164}"/>
              </a:ext>
            </a:extLst>
          </p:cNvPr>
          <p:cNvSpPr txBox="1"/>
          <p:nvPr/>
        </p:nvSpPr>
        <p:spPr>
          <a:xfrm>
            <a:off x="907378" y="2003021"/>
            <a:ext cx="61207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4.5 </a:t>
            </a:r>
            <a:r>
              <a:rPr lang="bg-BG" sz="3200" b="1" dirty="0" err="1"/>
              <a:t>What</a:t>
            </a:r>
            <a:r>
              <a:rPr lang="bg-BG" sz="3200" b="1" dirty="0"/>
              <a:t> </a:t>
            </a:r>
            <a:r>
              <a:rPr lang="bg-BG" sz="3200" b="1" dirty="0" err="1"/>
              <a:t>You</a:t>
            </a:r>
            <a:r>
              <a:rPr lang="bg-BG" sz="3200" b="1" dirty="0"/>
              <a:t> </a:t>
            </a:r>
            <a:r>
              <a:rPr lang="bg-BG" sz="3200" b="1" dirty="0" err="1"/>
              <a:t>Can</a:t>
            </a:r>
            <a:r>
              <a:rPr lang="bg-BG" sz="3200" b="1" dirty="0"/>
              <a:t> </a:t>
            </a:r>
            <a:r>
              <a:rPr lang="bg-BG" sz="3200" b="1" dirty="0" err="1"/>
              <a:t>Do</a:t>
            </a:r>
            <a:r>
              <a:rPr lang="bg-BG" sz="3200" b="1" dirty="0"/>
              <a:t> </a:t>
            </a:r>
            <a:r>
              <a:rPr lang="bg-BG" sz="3200" b="1" dirty="0" err="1"/>
              <a:t>with</a:t>
            </a:r>
            <a:r>
              <a:rPr lang="bg-BG" sz="3200" b="1" dirty="0"/>
              <a:t> </a:t>
            </a:r>
            <a:r>
              <a:rPr lang="bg-BG" sz="3200" b="1" dirty="0" err="1"/>
              <a:t>Python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6DCB9-0757-220D-6DB9-39CC2EBBA731}"/>
              </a:ext>
            </a:extLst>
          </p:cNvPr>
          <p:cNvSpPr txBox="1"/>
          <p:nvPr/>
        </p:nvSpPr>
        <p:spPr>
          <a:xfrm>
            <a:off x="914400" y="2793753"/>
            <a:ext cx="6978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bg-BG" b="1" dirty="0" err="1">
                <a:solidFill>
                  <a:schemeClr val="bg1"/>
                </a:solidFill>
              </a:rPr>
              <a:t>Web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Development</a:t>
            </a:r>
            <a:r>
              <a:rPr lang="bg-BG" b="1" dirty="0">
                <a:solidFill>
                  <a:schemeClr val="bg1"/>
                </a:solidFill>
              </a:rPr>
              <a:t>: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Build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websites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web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apps</a:t>
            </a:r>
            <a:r>
              <a:rPr lang="bg-BG" dirty="0">
                <a:solidFill>
                  <a:schemeClr val="bg1"/>
                </a:solidFill>
              </a:rPr>
              <a:t> (</a:t>
            </a:r>
            <a:r>
              <a:rPr lang="bg-BG" dirty="0" err="1">
                <a:solidFill>
                  <a:schemeClr val="bg1"/>
                </a:solidFill>
              </a:rPr>
              <a:t>using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Django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Flask</a:t>
            </a:r>
            <a:r>
              <a:rPr lang="bg-BG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BEBF9-CEC8-1C60-23C1-2EB1414CBE65}"/>
              </a:ext>
            </a:extLst>
          </p:cNvPr>
          <p:cNvSpPr txBox="1"/>
          <p:nvPr/>
        </p:nvSpPr>
        <p:spPr>
          <a:xfrm>
            <a:off x="2705821" y="611965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9D5C4-5458-8C6E-26FB-01C659A9C386}"/>
              </a:ext>
            </a:extLst>
          </p:cNvPr>
          <p:cNvSpPr txBox="1"/>
          <p:nvPr/>
        </p:nvSpPr>
        <p:spPr>
          <a:xfrm>
            <a:off x="914400" y="3163085"/>
            <a:ext cx="5178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bg-BG" b="1" dirty="0">
                <a:solidFill>
                  <a:schemeClr val="bg1"/>
                </a:solidFill>
              </a:rPr>
              <a:t>Data Science: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Analyze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visualize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massive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datasets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  <a:p>
            <a:endParaRPr lang="bg-B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370B5-908B-14D2-A8F9-825F3493E0BC}"/>
              </a:ext>
            </a:extLst>
          </p:cNvPr>
          <p:cNvSpPr txBox="1"/>
          <p:nvPr/>
        </p:nvSpPr>
        <p:spPr>
          <a:xfrm>
            <a:off x="914400" y="3532896"/>
            <a:ext cx="8571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bg-BG" b="1" dirty="0" err="1">
                <a:solidFill>
                  <a:schemeClr val="bg1"/>
                </a:solidFill>
              </a:rPr>
              <a:t>Machine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Learning</a:t>
            </a:r>
            <a:r>
              <a:rPr lang="bg-BG" b="1" dirty="0">
                <a:solidFill>
                  <a:schemeClr val="bg1"/>
                </a:solidFill>
              </a:rPr>
              <a:t> &amp; AI: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Train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models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recognize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faces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voices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or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patterns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  <a:p>
            <a:endParaRPr lang="bg-B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A7358-BC89-ED23-3E92-17634B1BCB8C}"/>
              </a:ext>
            </a:extLst>
          </p:cNvPr>
          <p:cNvSpPr txBox="1"/>
          <p:nvPr/>
        </p:nvSpPr>
        <p:spPr>
          <a:xfrm>
            <a:off x="914400" y="3944486"/>
            <a:ext cx="6446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bg-BG" b="1" dirty="0" err="1">
                <a:solidFill>
                  <a:schemeClr val="bg1"/>
                </a:solidFill>
              </a:rPr>
              <a:t>Automation</a:t>
            </a:r>
            <a:r>
              <a:rPr lang="bg-BG" b="1" dirty="0">
                <a:solidFill>
                  <a:schemeClr val="bg1"/>
                </a:solidFill>
              </a:rPr>
              <a:t>: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Write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scripts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boring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tasks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automatically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  <a:p>
            <a:endParaRPr lang="bg-B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F0DFA-A11D-2EDE-A757-DBCB7DB72412}"/>
              </a:ext>
            </a:extLst>
          </p:cNvPr>
          <p:cNvSpPr txBox="1"/>
          <p:nvPr/>
        </p:nvSpPr>
        <p:spPr>
          <a:xfrm>
            <a:off x="914400" y="4353526"/>
            <a:ext cx="6395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bg-BG" b="1" dirty="0" err="1">
                <a:solidFill>
                  <a:schemeClr val="bg1"/>
                </a:solidFill>
              </a:rPr>
              <a:t>Cybersecurity</a:t>
            </a:r>
            <a:r>
              <a:rPr lang="bg-BG" b="1" dirty="0">
                <a:solidFill>
                  <a:schemeClr val="bg1"/>
                </a:solidFill>
              </a:rPr>
              <a:t>: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Analyze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networks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test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systems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or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detect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malware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  <a:p>
            <a:endParaRPr lang="bg-B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2EB6F-28B6-A355-D51C-20855313B559}"/>
              </a:ext>
            </a:extLst>
          </p:cNvPr>
          <p:cNvSpPr txBox="1"/>
          <p:nvPr/>
        </p:nvSpPr>
        <p:spPr>
          <a:xfrm>
            <a:off x="914400" y="4857772"/>
            <a:ext cx="5524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 err="1">
                <a:solidFill>
                  <a:schemeClr val="bg1"/>
                </a:solidFill>
              </a:rPr>
              <a:t>Game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Development</a:t>
            </a:r>
            <a:r>
              <a:rPr lang="bg-BG" b="1" dirty="0">
                <a:solidFill>
                  <a:schemeClr val="bg1"/>
                </a:solidFill>
              </a:rPr>
              <a:t>: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Create</a:t>
            </a:r>
            <a:r>
              <a:rPr lang="bg-BG" dirty="0">
                <a:solidFill>
                  <a:schemeClr val="bg1"/>
                </a:solidFill>
              </a:rPr>
              <a:t> 2D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3D </a:t>
            </a:r>
            <a:r>
              <a:rPr lang="bg-BG" dirty="0" err="1">
                <a:solidFill>
                  <a:schemeClr val="bg1"/>
                </a:solidFill>
              </a:rPr>
              <a:t>games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with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ease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6479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00FBB-B51C-95E8-3A0A-5616A7D04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A0A3120B-B3D9-D232-5667-FDC4EB1FD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55630D-CA05-E418-7BD3-0103A0BE8AB0}"/>
              </a:ext>
            </a:extLst>
          </p:cNvPr>
          <p:cNvSpPr txBox="1"/>
          <p:nvPr/>
        </p:nvSpPr>
        <p:spPr>
          <a:xfrm>
            <a:off x="2752928" y="914400"/>
            <a:ext cx="51399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200" dirty="0"/>
              <a:t>SECTION 4 – What is Python?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664A-A90A-0B69-56AA-E1062A94B7BD}"/>
              </a:ext>
            </a:extLst>
          </p:cNvPr>
          <p:cNvSpPr txBox="1"/>
          <p:nvPr/>
        </p:nvSpPr>
        <p:spPr>
          <a:xfrm>
            <a:off x="914400" y="1850490"/>
            <a:ext cx="71029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4.6 </a:t>
            </a:r>
            <a:r>
              <a:rPr lang="en-US" sz="3200" b="1" dirty="0"/>
              <a:t>Why Python is Perfect for Beginners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77ABF-C54D-ED6A-7DB6-AB84DBBE5119}"/>
              </a:ext>
            </a:extLst>
          </p:cNvPr>
          <p:cNvSpPr txBox="1"/>
          <p:nvPr/>
        </p:nvSpPr>
        <p:spPr>
          <a:xfrm>
            <a:off x="914400" y="3196035"/>
            <a:ext cx="69784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Simple syntax</a:t>
            </a:r>
            <a:endParaRPr lang="bg-BG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6EB13F-8449-6FE1-D851-0D1A24681624}"/>
              </a:ext>
            </a:extLst>
          </p:cNvPr>
          <p:cNvSpPr txBox="1"/>
          <p:nvPr/>
        </p:nvSpPr>
        <p:spPr>
          <a:xfrm>
            <a:off x="2705821" y="611965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23789-1009-893B-EBE0-B17FC8D76B8A}"/>
              </a:ext>
            </a:extLst>
          </p:cNvPr>
          <p:cNvSpPr txBox="1"/>
          <p:nvPr/>
        </p:nvSpPr>
        <p:spPr>
          <a:xfrm>
            <a:off x="914400" y="3951464"/>
            <a:ext cx="5529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Allows to focus on logic and programming concepts</a:t>
            </a:r>
            <a:endParaRPr lang="bg-BG" sz="2000" dirty="0">
              <a:solidFill>
                <a:schemeClr val="bg1"/>
              </a:solidFill>
            </a:endParaRPr>
          </a:p>
          <a:p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90703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2254-4FB4-E6FA-8AB7-6D74FFEB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BA22446A-783C-2C94-2BF4-DFABD8290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D89519-7FAF-5A68-DE81-8F3FB29D8498}"/>
              </a:ext>
            </a:extLst>
          </p:cNvPr>
          <p:cNvSpPr txBox="1"/>
          <p:nvPr/>
        </p:nvSpPr>
        <p:spPr>
          <a:xfrm>
            <a:off x="2002033" y="1815966"/>
            <a:ext cx="51399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200" dirty="0"/>
              <a:t>SECTION 4 – What is Python?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15589-DC72-FE4D-9E7C-D7229DC02A05}"/>
              </a:ext>
            </a:extLst>
          </p:cNvPr>
          <p:cNvSpPr txBox="1"/>
          <p:nvPr/>
        </p:nvSpPr>
        <p:spPr>
          <a:xfrm>
            <a:off x="2705821" y="3640379"/>
            <a:ext cx="32891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4.7 Final Thoughts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D3704-0979-4761-67C5-26EC1386A560}"/>
              </a:ext>
            </a:extLst>
          </p:cNvPr>
          <p:cNvSpPr txBox="1"/>
          <p:nvPr/>
        </p:nvSpPr>
        <p:spPr>
          <a:xfrm>
            <a:off x="2705821" y="611965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9411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345</Words>
  <Application>Microsoft Office PowerPoint</Application>
  <PresentationFormat>On-screen Show (4:3)</PresentationFormat>
  <Paragraphs>76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Marian Milushev</cp:lastModifiedBy>
  <cp:revision>2</cp:revision>
  <dcterms:created xsi:type="dcterms:W3CDTF">2013-01-27T09:14:16Z</dcterms:created>
  <dcterms:modified xsi:type="dcterms:W3CDTF">2025-11-04T13:51:53Z</dcterms:modified>
  <cp:category/>
</cp:coreProperties>
</file>