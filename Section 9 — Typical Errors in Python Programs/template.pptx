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A13D-CED6-4BEF-2B6D-ACE4A8C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1011C98A-DA92-555A-1CA5-47B35A63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77CC93-A9D3-0AC8-BA98-F4499DFF84B4}"/>
              </a:ext>
            </a:extLst>
          </p:cNvPr>
          <p:cNvSpPr txBox="1"/>
          <p:nvPr/>
        </p:nvSpPr>
        <p:spPr>
          <a:xfrm>
            <a:off x="2036287" y="2566827"/>
            <a:ext cx="573266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3600" b="1" dirty="0" err="1">
                <a:solidFill>
                  <a:schemeClr val="bg1"/>
                </a:solidFill>
              </a:rPr>
              <a:t>Section</a:t>
            </a:r>
            <a:r>
              <a:rPr lang="bg-BG" sz="3600" b="1" dirty="0">
                <a:solidFill>
                  <a:schemeClr val="bg1"/>
                </a:solidFill>
              </a:rPr>
              <a:t> 9 — </a:t>
            </a:r>
            <a:r>
              <a:rPr lang="bg-BG" sz="3600" b="1" dirty="0" err="1">
                <a:solidFill>
                  <a:schemeClr val="bg1"/>
                </a:solidFill>
              </a:rPr>
              <a:t>Typical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b="1" dirty="0" err="1">
                <a:solidFill>
                  <a:schemeClr val="bg1"/>
                </a:solidFill>
              </a:rPr>
              <a:t>Errors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b="1" dirty="0" err="1">
                <a:solidFill>
                  <a:schemeClr val="bg1"/>
                </a:solidFill>
              </a:rPr>
              <a:t>in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          </a:t>
            </a:r>
            <a:r>
              <a:rPr lang="bg-BG" sz="3600" b="1" dirty="0" err="1">
                <a:solidFill>
                  <a:schemeClr val="bg1"/>
                </a:solidFill>
              </a:rPr>
              <a:t>Python</a:t>
            </a:r>
            <a:r>
              <a:rPr lang="bg-BG" sz="3600" b="1" dirty="0">
                <a:solidFill>
                  <a:schemeClr val="bg1"/>
                </a:solidFill>
              </a:rPr>
              <a:t> </a:t>
            </a:r>
            <a:r>
              <a:rPr lang="bg-BG" sz="3600" b="1" dirty="0" err="1">
                <a:solidFill>
                  <a:schemeClr val="bg1"/>
                </a:solidFill>
              </a:rPr>
              <a:t>Programs</a:t>
            </a:r>
            <a:endParaRPr lang="bg-BG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CC040-881E-9D41-78A9-243A37811987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539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3855" y="2211249"/>
            <a:ext cx="5508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9.1 </a:t>
            </a:r>
            <a:r>
              <a:rPr lang="bg-BG" sz="2800" b="1" dirty="0" err="1">
                <a:solidFill>
                  <a:schemeClr val="bg1"/>
                </a:solidFill>
              </a:rPr>
              <a:t>What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Are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(</a:t>
            </a:r>
            <a:r>
              <a:rPr lang="bg-BG" sz="2800" b="1" dirty="0" err="1">
                <a:solidFill>
                  <a:schemeClr val="bg1"/>
                </a:solidFill>
              </a:rPr>
              <a:t>a.k.a</a:t>
            </a:r>
            <a:r>
              <a:rPr lang="bg-BG" sz="2800" b="1" dirty="0">
                <a:solidFill>
                  <a:schemeClr val="bg1"/>
                </a:solidFill>
              </a:rPr>
              <a:t>. “</a:t>
            </a:r>
            <a:r>
              <a:rPr lang="bg-BG" sz="2800" b="1" dirty="0" err="1">
                <a:solidFill>
                  <a:schemeClr val="bg1"/>
                </a:solidFill>
              </a:rPr>
              <a:t>Bugs</a:t>
            </a:r>
            <a:r>
              <a:rPr lang="bg-BG" sz="2800" b="1" dirty="0">
                <a:solidFill>
                  <a:schemeClr val="bg1"/>
                </a:solidFill>
              </a:rPr>
              <a:t>”)?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129117"/>
            <a:ext cx="6118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lang="en-US" sz="2400" b="1" dirty="0"/>
              <a:t>1. </a:t>
            </a:r>
            <a:r>
              <a:rPr lang="bg-BG" sz="2400" b="1" dirty="0" err="1"/>
              <a:t>Syntax</a:t>
            </a:r>
            <a:r>
              <a:rPr lang="bg-BG" sz="2400" b="1" dirty="0"/>
              <a:t> </a:t>
            </a:r>
            <a:r>
              <a:rPr lang="bg-BG" sz="2400" b="1" dirty="0" err="1"/>
              <a:t>Errors</a:t>
            </a:r>
            <a:endParaRPr lang="bg-BG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7AE90-6A09-B464-FFFF-98FB676CCF5E}"/>
              </a:ext>
            </a:extLst>
          </p:cNvPr>
          <p:cNvSpPr txBox="1"/>
          <p:nvPr/>
        </p:nvSpPr>
        <p:spPr>
          <a:xfrm>
            <a:off x="914400" y="3949350"/>
            <a:ext cx="6118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auto"/>
            <a:r>
              <a:rPr lang="en-US" sz="2400" b="1" dirty="0">
                <a:solidFill>
                  <a:schemeClr val="bg1"/>
                </a:solidFill>
              </a:rPr>
              <a:t>2. </a:t>
            </a:r>
            <a:r>
              <a:rPr lang="bg-BG" sz="2400" b="1" dirty="0" err="1">
                <a:solidFill>
                  <a:schemeClr val="bg1"/>
                </a:solidFill>
              </a:rPr>
              <a:t>Runtime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Errors</a:t>
            </a:r>
            <a:r>
              <a:rPr lang="bg-BG" sz="2400" b="1" dirty="0">
                <a:solidFill>
                  <a:schemeClr val="bg1"/>
                </a:solidFill>
              </a:rPr>
              <a:t> (</a:t>
            </a:r>
            <a:r>
              <a:rPr lang="bg-BG" sz="2400" b="1" dirty="0" err="1">
                <a:solidFill>
                  <a:schemeClr val="bg1"/>
                </a:solidFill>
              </a:rPr>
              <a:t>Exceptions</a:t>
            </a:r>
            <a:r>
              <a:rPr lang="bg-BG" sz="2400" b="1" dirty="0">
                <a:solidFill>
                  <a:schemeClr val="bg1"/>
                </a:solidFill>
              </a:rPr>
              <a:t>)</a:t>
            </a:r>
            <a:endParaRPr lang="bg-BG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48EF-1D1F-3EF2-F340-3C8DD768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48D52E28-6571-CB43-8B3F-FC1C6CBAA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7024B6-B88D-0462-4292-AF3CA7A57CE7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13695-0850-DB07-2BCD-C6757BE9B748}"/>
              </a:ext>
            </a:extLst>
          </p:cNvPr>
          <p:cNvSpPr txBox="1"/>
          <p:nvPr/>
        </p:nvSpPr>
        <p:spPr>
          <a:xfrm>
            <a:off x="933855" y="2007009"/>
            <a:ext cx="565347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9.2</a:t>
            </a:r>
            <a:r>
              <a:rPr lang="bg-BG" sz="2400" b="1" dirty="0">
                <a:solidFill>
                  <a:schemeClr val="bg1"/>
                </a:solidFill>
              </a:rPr>
              <a:t>. </a:t>
            </a:r>
            <a:r>
              <a:rPr lang="bg-BG" sz="2400" b="1" dirty="0" err="1">
                <a:solidFill>
                  <a:schemeClr val="bg1"/>
                </a:solidFill>
              </a:rPr>
              <a:t>Syntax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Errors</a:t>
            </a:r>
            <a:r>
              <a:rPr lang="bg-BG" sz="2400" b="1" dirty="0">
                <a:solidFill>
                  <a:schemeClr val="bg1"/>
                </a:solidFill>
              </a:rPr>
              <a:t> – </a:t>
            </a:r>
            <a:r>
              <a:rPr lang="bg-BG" sz="2400" b="1" dirty="0" err="1">
                <a:solidFill>
                  <a:schemeClr val="bg1"/>
                </a:solidFill>
              </a:rPr>
              <a:t>The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Grammar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Mistakes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B2FD4-87AA-B9C9-C019-D79107860AAB}"/>
              </a:ext>
            </a:extLst>
          </p:cNvPr>
          <p:cNvSpPr txBox="1"/>
          <p:nvPr/>
        </p:nvSpPr>
        <p:spPr>
          <a:xfrm>
            <a:off x="914400" y="2607176"/>
            <a:ext cx="6118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lang="en-US" sz="2000" b="1" dirty="0"/>
              <a:t>S</a:t>
            </a:r>
            <a:r>
              <a:rPr lang="bg-BG" sz="2000" b="1" dirty="0" err="1"/>
              <a:t>yntax</a:t>
            </a:r>
            <a:r>
              <a:rPr lang="bg-BG" sz="2000" b="1" dirty="0"/>
              <a:t> </a:t>
            </a:r>
            <a:r>
              <a:rPr lang="bg-BG" sz="2000" b="1" dirty="0" err="1"/>
              <a:t>error</a:t>
            </a:r>
            <a:r>
              <a:rPr lang="bg-BG" sz="2000" dirty="0"/>
              <a:t> </a:t>
            </a:r>
            <a:r>
              <a:rPr lang="bg-BG" sz="2000" dirty="0" err="1"/>
              <a:t>happens</a:t>
            </a:r>
            <a:r>
              <a:rPr lang="bg-BG" sz="2000" dirty="0"/>
              <a:t> </a:t>
            </a:r>
            <a:r>
              <a:rPr lang="bg-BG" sz="2000" dirty="0" err="1"/>
              <a:t>when</a:t>
            </a:r>
            <a:r>
              <a:rPr lang="bg-BG" sz="2000" dirty="0"/>
              <a:t> </a:t>
            </a:r>
            <a:r>
              <a:rPr lang="bg-BG" sz="2000" dirty="0" err="1"/>
              <a:t>Python</a:t>
            </a:r>
            <a:r>
              <a:rPr lang="bg-BG" sz="2000" dirty="0"/>
              <a:t> </a:t>
            </a:r>
            <a:r>
              <a:rPr lang="bg-BG" sz="2000" dirty="0" err="1"/>
              <a:t>doesn’t</a:t>
            </a:r>
            <a:r>
              <a:rPr lang="bg-BG" sz="2000" dirty="0"/>
              <a:t> </a:t>
            </a:r>
            <a:r>
              <a:rPr lang="bg-BG" sz="2000" dirty="0" err="1"/>
              <a:t>understand</a:t>
            </a:r>
            <a:r>
              <a:rPr lang="bg-BG" sz="2000" dirty="0"/>
              <a:t> </a:t>
            </a:r>
            <a:r>
              <a:rPr lang="bg-BG" sz="2000" dirty="0" err="1"/>
              <a:t>your</a:t>
            </a:r>
            <a:r>
              <a:rPr lang="bg-BG" sz="2000" dirty="0"/>
              <a:t> </a:t>
            </a:r>
            <a:r>
              <a:rPr lang="bg-BG" sz="2000" dirty="0" err="1"/>
              <a:t>code</a:t>
            </a:r>
            <a:r>
              <a:rPr lang="en-US" sz="2000" dirty="0"/>
              <a:t>.</a:t>
            </a:r>
            <a:endParaRPr lang="bg-BG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07B3A-CCFE-BFF2-1413-1C47ACC690AF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E9325-3CAB-4D84-FBEB-635E1FDEE1BA}"/>
              </a:ext>
            </a:extLst>
          </p:cNvPr>
          <p:cNvSpPr txBox="1"/>
          <p:nvPr/>
        </p:nvSpPr>
        <p:spPr>
          <a:xfrm>
            <a:off x="933855" y="3397664"/>
            <a:ext cx="611869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 err="1">
                <a:solidFill>
                  <a:schemeClr val="bg1"/>
                </a:solidFill>
              </a:rPr>
              <a:t>Example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Hello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world</a:t>
            </a:r>
            <a:r>
              <a:rPr lang="bg-BG" dirty="0">
                <a:solidFill>
                  <a:schemeClr val="bg1"/>
                </a:solidFill>
              </a:rPr>
              <a:t>!"</a:t>
            </a:r>
          </a:p>
          <a:p>
            <a:r>
              <a:rPr lang="bg-BG" dirty="0">
                <a:solidFill>
                  <a:schemeClr val="bg1"/>
                </a:solidFill>
              </a:rPr>
              <a:t>⚠️ </a:t>
            </a:r>
            <a:r>
              <a:rPr lang="bg-BG" dirty="0" err="1">
                <a:solidFill>
                  <a:schemeClr val="bg1"/>
                </a:solidFill>
              </a:rPr>
              <a:t>Missing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closing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parenthesis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When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run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this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Python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says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SyntaxError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unexpected</a:t>
            </a:r>
            <a:r>
              <a:rPr lang="bg-BG" dirty="0">
                <a:solidFill>
                  <a:schemeClr val="bg1"/>
                </a:solidFill>
              </a:rPr>
              <a:t> EOF </a:t>
            </a:r>
            <a:r>
              <a:rPr lang="bg-BG" dirty="0" err="1">
                <a:solidFill>
                  <a:schemeClr val="bg1"/>
                </a:solidFill>
              </a:rPr>
              <a:t>while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parsing</a:t>
            </a:r>
            <a:endParaRPr lang="bg-BG" dirty="0">
              <a:solidFill>
                <a:schemeClr val="bg1"/>
              </a:solidFill>
            </a:endParaRPr>
          </a:p>
          <a:p>
            <a:pPr lvl="0" fontAlgn="auto"/>
            <a:endParaRPr lang="bg-BG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56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5E10-0250-4C57-882F-069DACFF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9E832E57-ECF4-C698-486E-DCFA67D8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51249E-82B6-ACEE-60CF-4B860021C370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98EDB-7D3A-1B1C-476C-951D52030D7F}"/>
              </a:ext>
            </a:extLst>
          </p:cNvPr>
          <p:cNvSpPr txBox="1"/>
          <p:nvPr/>
        </p:nvSpPr>
        <p:spPr>
          <a:xfrm>
            <a:off x="933855" y="2007009"/>
            <a:ext cx="76819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9.3</a:t>
            </a:r>
            <a:r>
              <a:rPr lang="bg-BG" sz="2400" b="1" dirty="0">
                <a:solidFill>
                  <a:schemeClr val="bg1"/>
                </a:solidFill>
              </a:rPr>
              <a:t>. </a:t>
            </a:r>
            <a:r>
              <a:rPr lang="bg-BG" sz="2400" b="1" dirty="0" err="1">
                <a:solidFill>
                  <a:schemeClr val="bg1"/>
                </a:solidFill>
              </a:rPr>
              <a:t>Runtime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Errors</a:t>
            </a:r>
            <a:r>
              <a:rPr lang="bg-BG" sz="2400" b="1" dirty="0">
                <a:solidFill>
                  <a:schemeClr val="bg1"/>
                </a:solidFill>
              </a:rPr>
              <a:t> (</a:t>
            </a:r>
            <a:r>
              <a:rPr lang="bg-BG" sz="2400" b="1" dirty="0" err="1">
                <a:solidFill>
                  <a:schemeClr val="bg1"/>
                </a:solidFill>
              </a:rPr>
              <a:t>Exceptions</a:t>
            </a:r>
            <a:r>
              <a:rPr lang="bg-BG" sz="2400" b="1" dirty="0">
                <a:solidFill>
                  <a:schemeClr val="bg1"/>
                </a:solidFill>
              </a:rPr>
              <a:t>) – </a:t>
            </a:r>
            <a:r>
              <a:rPr lang="bg-BG" sz="2400" b="1" dirty="0" err="1">
                <a:solidFill>
                  <a:schemeClr val="bg1"/>
                </a:solidFill>
              </a:rPr>
              <a:t>Mistakes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While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Running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74541-5683-010A-40B7-943487E8C4D6}"/>
              </a:ext>
            </a:extLst>
          </p:cNvPr>
          <p:cNvSpPr txBox="1"/>
          <p:nvPr/>
        </p:nvSpPr>
        <p:spPr>
          <a:xfrm>
            <a:off x="914400" y="2556826"/>
            <a:ext cx="6118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 </a:t>
            </a:r>
            <a:r>
              <a:rPr lang="bg-BG" sz="2000" dirty="0">
                <a:solidFill>
                  <a:schemeClr val="bg1"/>
                </a:solidFill>
              </a:rPr>
              <a:t>A </a:t>
            </a:r>
            <a:r>
              <a:rPr lang="bg-BG" sz="2000" b="1" dirty="0" err="1">
                <a:solidFill>
                  <a:schemeClr val="bg1"/>
                </a:solidFill>
              </a:rPr>
              <a:t>runtime</a:t>
            </a:r>
            <a:r>
              <a:rPr lang="bg-BG" sz="2000" b="1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error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also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called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an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b="1" dirty="0" err="1">
                <a:solidFill>
                  <a:schemeClr val="bg1"/>
                </a:solidFill>
              </a:rPr>
              <a:t>exception</a:t>
            </a:r>
            <a:r>
              <a:rPr lang="bg-BG" sz="2000" dirty="0">
                <a:solidFill>
                  <a:schemeClr val="bg1"/>
                </a:solidFill>
              </a:rPr>
              <a:t>, </a:t>
            </a:r>
            <a:r>
              <a:rPr lang="bg-BG" sz="2000" dirty="0" err="1">
                <a:solidFill>
                  <a:schemeClr val="bg1"/>
                </a:solidFill>
              </a:rPr>
              <a:t>happens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when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something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goes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wrong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during</a:t>
            </a:r>
            <a:r>
              <a:rPr lang="bg-BG" sz="2000" dirty="0">
                <a:solidFill>
                  <a:schemeClr val="bg1"/>
                </a:solidFill>
              </a:rPr>
              <a:t> </a:t>
            </a:r>
            <a:r>
              <a:rPr lang="bg-BG" sz="2000" dirty="0" err="1">
                <a:solidFill>
                  <a:schemeClr val="bg1"/>
                </a:solidFill>
              </a:rPr>
              <a:t>execution</a:t>
            </a:r>
            <a:r>
              <a:rPr lang="bg-BG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68B35-1AB7-1F95-3272-BADA9EB4A290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860FB-0F9B-0C5F-2F08-8B2C1DF6814B}"/>
              </a:ext>
            </a:extLst>
          </p:cNvPr>
          <p:cNvSpPr txBox="1"/>
          <p:nvPr/>
        </p:nvSpPr>
        <p:spPr>
          <a:xfrm>
            <a:off x="1391055" y="3311417"/>
            <a:ext cx="61186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 err="1">
                <a:solidFill>
                  <a:schemeClr val="bg1"/>
                </a:solidFill>
              </a:rPr>
              <a:t>Example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(10 / 0)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>
                <a:solidFill>
                  <a:schemeClr val="bg1"/>
                </a:solidFill>
              </a:rPr>
              <a:t>⚠️ </a:t>
            </a:r>
            <a:r>
              <a:rPr lang="bg-BG" dirty="0" err="1">
                <a:solidFill>
                  <a:schemeClr val="bg1"/>
                </a:solidFill>
              </a:rPr>
              <a:t>You’re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dividing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by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zero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which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mathematically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impossible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Python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says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ZeroDivisionError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division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by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zero</a:t>
            </a:r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568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FD14-3FD9-D1DF-A70C-2D85E707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FA371CB1-E721-A00E-FA46-01DDDA30B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F67B0C-9468-4865-1376-B6AFF971CC37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E1C23-FB7C-F6E3-2722-3E0CC23EE314}"/>
              </a:ext>
            </a:extLst>
          </p:cNvPr>
          <p:cNvSpPr txBox="1"/>
          <p:nvPr/>
        </p:nvSpPr>
        <p:spPr>
          <a:xfrm>
            <a:off x="933855" y="2007009"/>
            <a:ext cx="213071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9.4</a:t>
            </a:r>
            <a:r>
              <a:rPr lang="bg-BG" sz="2400" b="1" dirty="0">
                <a:solidFill>
                  <a:schemeClr val="bg1"/>
                </a:solidFill>
              </a:rPr>
              <a:t>. </a:t>
            </a:r>
            <a:r>
              <a:rPr lang="bg-BG" sz="2400" b="1" dirty="0" err="1">
                <a:solidFill>
                  <a:schemeClr val="bg1"/>
                </a:solidFill>
              </a:rPr>
              <a:t>NameError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C5569-E24D-6157-0995-03EEA7E8BE94}"/>
              </a:ext>
            </a:extLst>
          </p:cNvPr>
          <p:cNvSpPr txBox="1"/>
          <p:nvPr/>
        </p:nvSpPr>
        <p:spPr>
          <a:xfrm>
            <a:off x="914400" y="2556826"/>
            <a:ext cx="6118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Happens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when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try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use</a:t>
            </a:r>
            <a:r>
              <a:rPr lang="bg-BG" dirty="0">
                <a:solidFill>
                  <a:schemeClr val="bg1"/>
                </a:solidFill>
              </a:rPr>
              <a:t> a </a:t>
            </a:r>
            <a:r>
              <a:rPr lang="bg-BG" dirty="0" err="1">
                <a:solidFill>
                  <a:schemeClr val="bg1"/>
                </a:solidFill>
              </a:rPr>
              <a:t>variable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that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hasn’t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been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defined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yet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B73D1-A98B-A8C0-2B49-E713D0FAA72E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E8F1D-6AD3-D7A1-A3E5-ADB40D4BB173}"/>
              </a:ext>
            </a:extLst>
          </p:cNvPr>
          <p:cNvSpPr txBox="1"/>
          <p:nvPr/>
        </p:nvSpPr>
        <p:spPr>
          <a:xfrm>
            <a:off x="914400" y="3315430"/>
            <a:ext cx="6118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NameError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'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'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not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defined</a:t>
            </a:r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07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F35CA-2769-3911-AEDE-960F4A3C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9B4000CC-E0A6-8164-4C17-7DC62659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A5A9D7-7B52-1A74-2219-4EE1C11230A1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E6ACF-CF8E-E43D-58C5-C33305C79ED0}"/>
              </a:ext>
            </a:extLst>
          </p:cNvPr>
          <p:cNvSpPr txBox="1"/>
          <p:nvPr/>
        </p:nvSpPr>
        <p:spPr>
          <a:xfrm>
            <a:off x="933855" y="2007009"/>
            <a:ext cx="27817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9.5 I</a:t>
            </a:r>
            <a:r>
              <a:rPr lang="bg-BG" sz="2400" b="1" dirty="0" err="1">
                <a:solidFill>
                  <a:schemeClr val="bg1"/>
                </a:solidFill>
              </a:rPr>
              <a:t>ndentationError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01BD3-FBF2-5C4B-E2B8-582EAB3BA594}"/>
              </a:ext>
            </a:extLst>
          </p:cNvPr>
          <p:cNvSpPr txBox="1"/>
          <p:nvPr/>
        </p:nvSpPr>
        <p:spPr>
          <a:xfrm>
            <a:off x="914400" y="2556826"/>
            <a:ext cx="611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Python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uses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indentation</a:t>
            </a:r>
            <a:r>
              <a:rPr lang="bg-BG" b="1" dirty="0">
                <a:solidFill>
                  <a:schemeClr val="bg1"/>
                </a:solidFill>
              </a:rPr>
              <a:t> (</a:t>
            </a:r>
            <a:r>
              <a:rPr lang="bg-BG" b="1" dirty="0" err="1">
                <a:solidFill>
                  <a:schemeClr val="bg1"/>
                </a:solidFill>
              </a:rPr>
              <a:t>spaces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or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tabs</a:t>
            </a:r>
            <a:r>
              <a:rPr lang="bg-BG" b="1" dirty="0">
                <a:solidFill>
                  <a:schemeClr val="bg1"/>
                </a:solidFill>
              </a:rPr>
              <a:t>)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structure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859C7-4E6F-0603-551D-17E49A4343E0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8728A-5546-D189-9D9B-EEA0B2E2F28A}"/>
              </a:ext>
            </a:extLst>
          </p:cNvPr>
          <p:cNvSpPr txBox="1"/>
          <p:nvPr/>
        </p:nvSpPr>
        <p:spPr>
          <a:xfrm>
            <a:off x="914400" y="3135836"/>
            <a:ext cx="6118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NameError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 '</a:t>
            </a:r>
            <a:r>
              <a:rPr lang="bg-BG" dirty="0" err="1">
                <a:solidFill>
                  <a:schemeClr val="bg1"/>
                </a:solidFill>
              </a:rPr>
              <a:t>name</a:t>
            </a:r>
            <a:r>
              <a:rPr lang="bg-BG" dirty="0">
                <a:solidFill>
                  <a:schemeClr val="bg1"/>
                </a:solidFill>
              </a:rPr>
              <a:t>'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not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defined</a:t>
            </a:r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81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5295-3EEE-A5DA-39A1-120D805C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3AA60DBB-9838-AF2E-F472-7D523825E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BA63C6-FF8D-D1E6-6C7E-CF783CCAEC94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AC65C-373A-3D61-13F2-46B93C01FAC1}"/>
              </a:ext>
            </a:extLst>
          </p:cNvPr>
          <p:cNvSpPr txBox="1"/>
          <p:nvPr/>
        </p:nvSpPr>
        <p:spPr>
          <a:xfrm>
            <a:off x="933855" y="2007009"/>
            <a:ext cx="19762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9.6</a:t>
            </a:r>
            <a:r>
              <a:rPr lang="bg-BG" sz="2400" b="1" dirty="0">
                <a:solidFill>
                  <a:schemeClr val="bg1"/>
                </a:solidFill>
              </a:rPr>
              <a:t>. </a:t>
            </a:r>
            <a:r>
              <a:rPr lang="bg-BG" sz="2400" b="1" dirty="0" err="1">
                <a:solidFill>
                  <a:schemeClr val="bg1"/>
                </a:solidFill>
              </a:rPr>
              <a:t>TypeError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5A8AB-C091-1460-A713-6C3B888A8531}"/>
              </a:ext>
            </a:extLst>
          </p:cNvPr>
          <p:cNvSpPr txBox="1"/>
          <p:nvPr/>
        </p:nvSpPr>
        <p:spPr>
          <a:xfrm>
            <a:off x="914400" y="2556826"/>
            <a:ext cx="611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Happens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when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mix </a:t>
            </a:r>
            <a:r>
              <a:rPr lang="bg-BG" dirty="0" err="1">
                <a:solidFill>
                  <a:schemeClr val="bg1"/>
                </a:solidFill>
              </a:rPr>
              <a:t>incompatible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data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types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0D94C-A060-C834-9049-F816CD70C7AC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F2B0C-A07B-BBF8-98CC-764588523904}"/>
              </a:ext>
            </a:extLst>
          </p:cNvPr>
          <p:cNvSpPr txBox="1"/>
          <p:nvPr/>
        </p:nvSpPr>
        <p:spPr>
          <a:xfrm>
            <a:off x="914400" y="3135836"/>
            <a:ext cx="6118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 = 25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("I </a:t>
            </a:r>
            <a:r>
              <a:rPr lang="bg-BG" dirty="0" err="1">
                <a:solidFill>
                  <a:schemeClr val="bg1"/>
                </a:solidFill>
              </a:rPr>
              <a:t>am</a:t>
            </a:r>
            <a:r>
              <a:rPr lang="bg-BG" dirty="0">
                <a:solidFill>
                  <a:schemeClr val="bg1"/>
                </a:solidFill>
              </a:rPr>
              <a:t> " + </a:t>
            </a:r>
            <a:r>
              <a:rPr lang="bg-BG" dirty="0" err="1">
                <a:solidFill>
                  <a:schemeClr val="bg1"/>
                </a:solidFill>
              </a:rPr>
              <a:t>age</a:t>
            </a:r>
            <a:r>
              <a:rPr lang="bg-BG" dirty="0">
                <a:solidFill>
                  <a:schemeClr val="bg1"/>
                </a:solidFill>
              </a:rPr>
              <a:t> + " </a:t>
            </a:r>
            <a:r>
              <a:rPr lang="bg-BG" dirty="0" err="1">
                <a:solidFill>
                  <a:schemeClr val="bg1"/>
                </a:solidFill>
              </a:rPr>
              <a:t>years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old</a:t>
            </a:r>
            <a:r>
              <a:rPr lang="bg-BG" dirty="0">
                <a:solidFill>
                  <a:schemeClr val="bg1"/>
                </a:solidFill>
              </a:rPr>
              <a:t>.")</a:t>
            </a:r>
            <a:endParaRPr lang="en-US" dirty="0">
              <a:solidFill>
                <a:schemeClr val="bg1"/>
              </a:solidFill>
            </a:endParaRPr>
          </a:p>
          <a:p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TypeError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can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only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concatenate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str</a:t>
            </a:r>
            <a:r>
              <a:rPr lang="bg-BG" dirty="0">
                <a:solidFill>
                  <a:schemeClr val="bg1"/>
                </a:solidFill>
              </a:rPr>
              <a:t> (</a:t>
            </a:r>
            <a:r>
              <a:rPr lang="bg-BG" dirty="0" err="1">
                <a:solidFill>
                  <a:schemeClr val="bg1"/>
                </a:solidFill>
              </a:rPr>
              <a:t>not</a:t>
            </a:r>
            <a:r>
              <a:rPr lang="bg-BG" dirty="0">
                <a:solidFill>
                  <a:schemeClr val="bg1"/>
                </a:solidFill>
              </a:rPr>
              <a:t> "</a:t>
            </a:r>
            <a:r>
              <a:rPr lang="bg-BG" dirty="0" err="1">
                <a:solidFill>
                  <a:schemeClr val="bg1"/>
                </a:solidFill>
              </a:rPr>
              <a:t>int</a:t>
            </a:r>
            <a:r>
              <a:rPr lang="bg-BG" dirty="0">
                <a:solidFill>
                  <a:schemeClr val="bg1"/>
                </a:solidFill>
              </a:rPr>
              <a:t>")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str</a:t>
            </a:r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04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80AE-99C4-B729-F70B-14AFE735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97979FE2-33E5-E312-6DFB-C1D7E2260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943D5A-62BE-5911-1BC4-1DE0B7D45E61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08F1A-C85C-C914-70C3-8192DD8A4A97}"/>
              </a:ext>
            </a:extLst>
          </p:cNvPr>
          <p:cNvSpPr txBox="1"/>
          <p:nvPr/>
        </p:nvSpPr>
        <p:spPr>
          <a:xfrm>
            <a:off x="933855" y="2007009"/>
            <a:ext cx="20810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9.7</a:t>
            </a:r>
            <a:r>
              <a:rPr lang="bg-BG" sz="2400" b="1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Value</a:t>
            </a:r>
            <a:r>
              <a:rPr lang="bg-BG" sz="2400" b="1" dirty="0" err="1">
                <a:solidFill>
                  <a:schemeClr val="bg1"/>
                </a:solidFill>
              </a:rPr>
              <a:t>Error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D3F73-1F86-6E5A-3605-A6B801CD7E1D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EBCB1-77EB-95C7-5138-9EE46B8E5BA2}"/>
              </a:ext>
            </a:extLst>
          </p:cNvPr>
          <p:cNvSpPr txBox="1"/>
          <p:nvPr/>
        </p:nvSpPr>
        <p:spPr>
          <a:xfrm>
            <a:off x="914400" y="2632011"/>
            <a:ext cx="61186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Python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understood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type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of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data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but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value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doesn’t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make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sense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number</a:t>
            </a:r>
            <a:r>
              <a:rPr lang="bg-BG" dirty="0">
                <a:solidFill>
                  <a:schemeClr val="bg1"/>
                </a:solidFill>
              </a:rPr>
              <a:t> = </a:t>
            </a:r>
            <a:r>
              <a:rPr lang="bg-BG" dirty="0" err="1">
                <a:solidFill>
                  <a:schemeClr val="bg1"/>
                </a:solidFill>
              </a:rPr>
              <a:t>int</a:t>
            </a:r>
            <a:r>
              <a:rPr lang="bg-BG" dirty="0">
                <a:solidFill>
                  <a:schemeClr val="bg1"/>
                </a:solidFill>
              </a:rPr>
              <a:t>("</a:t>
            </a:r>
            <a:r>
              <a:rPr lang="bg-BG" dirty="0" err="1">
                <a:solidFill>
                  <a:schemeClr val="bg1"/>
                </a:solidFill>
              </a:rPr>
              <a:t>hello</a:t>
            </a:r>
            <a:r>
              <a:rPr lang="bg-BG" dirty="0">
                <a:solidFill>
                  <a:schemeClr val="bg1"/>
                </a:solidFill>
              </a:rPr>
              <a:t>")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ValueError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invalid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literal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for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int</a:t>
            </a:r>
            <a:r>
              <a:rPr lang="bg-BG" dirty="0">
                <a:solidFill>
                  <a:schemeClr val="bg1"/>
                </a:solidFill>
              </a:rPr>
              <a:t>() </a:t>
            </a:r>
            <a:r>
              <a:rPr lang="bg-BG" dirty="0" err="1">
                <a:solidFill>
                  <a:schemeClr val="bg1"/>
                </a:solidFill>
              </a:rPr>
              <a:t>with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base</a:t>
            </a:r>
            <a:r>
              <a:rPr lang="bg-BG" dirty="0">
                <a:solidFill>
                  <a:schemeClr val="bg1"/>
                </a:solidFill>
              </a:rPr>
              <a:t> 10: '</a:t>
            </a:r>
            <a:r>
              <a:rPr lang="bg-BG" dirty="0" err="1">
                <a:solidFill>
                  <a:schemeClr val="bg1"/>
                </a:solidFill>
              </a:rPr>
              <a:t>hello</a:t>
            </a:r>
            <a:r>
              <a:rPr lang="bg-BG" dirty="0">
                <a:solidFill>
                  <a:schemeClr val="bg1"/>
                </a:solidFill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302505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D146-F8ED-B991-3D02-B8F5FD8F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955D3027-8FBB-8A7A-4637-EAEF8381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0EAFB5-B75B-DF09-9844-62EC46D2D2D3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1CC50-95B6-7C61-8CD1-044DC139A5D7}"/>
              </a:ext>
            </a:extLst>
          </p:cNvPr>
          <p:cNvSpPr txBox="1"/>
          <p:nvPr/>
        </p:nvSpPr>
        <p:spPr>
          <a:xfrm>
            <a:off x="933855" y="2007009"/>
            <a:ext cx="20708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9.8. Index</a:t>
            </a:r>
            <a:r>
              <a:rPr lang="bg-BG" sz="2400" b="1" dirty="0" err="1">
                <a:solidFill>
                  <a:schemeClr val="bg1"/>
                </a:solidFill>
              </a:rPr>
              <a:t>Error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8105B-50C2-0025-500B-944A88DE4021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12BE9-2BEC-1537-F2A2-CBBEB3CE3803}"/>
              </a:ext>
            </a:extLst>
          </p:cNvPr>
          <p:cNvSpPr txBox="1"/>
          <p:nvPr/>
        </p:nvSpPr>
        <p:spPr>
          <a:xfrm>
            <a:off x="914400" y="2632011"/>
            <a:ext cx="61186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Happens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when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try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access</a:t>
            </a:r>
            <a:r>
              <a:rPr lang="bg-BG" dirty="0">
                <a:solidFill>
                  <a:schemeClr val="bg1"/>
                </a:solidFill>
              </a:rPr>
              <a:t> a </a:t>
            </a:r>
            <a:r>
              <a:rPr lang="bg-BG" dirty="0" err="1">
                <a:solidFill>
                  <a:schemeClr val="bg1"/>
                </a:solidFill>
              </a:rPr>
              <a:t>position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</a:t>
            </a:r>
            <a:r>
              <a:rPr lang="bg-BG" dirty="0">
                <a:solidFill>
                  <a:schemeClr val="bg1"/>
                </a:solidFill>
              </a:rPr>
              <a:t> a </a:t>
            </a:r>
            <a:r>
              <a:rPr lang="bg-BG" dirty="0" err="1">
                <a:solidFill>
                  <a:schemeClr val="bg1"/>
                </a:solidFill>
              </a:rPr>
              <a:t>list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that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doesn’t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exist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numbers</a:t>
            </a:r>
            <a:r>
              <a:rPr lang="bg-BG" dirty="0">
                <a:solidFill>
                  <a:schemeClr val="bg1"/>
                </a:solidFill>
              </a:rPr>
              <a:t> = [10, 20, 30]</a:t>
            </a: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</a:t>
            </a:r>
            <a:r>
              <a:rPr lang="bg-BG" dirty="0" err="1">
                <a:solidFill>
                  <a:schemeClr val="bg1"/>
                </a:solidFill>
              </a:rPr>
              <a:t>numbers</a:t>
            </a:r>
            <a:r>
              <a:rPr lang="bg-BG" dirty="0">
                <a:solidFill>
                  <a:schemeClr val="bg1"/>
                </a:solidFill>
              </a:rPr>
              <a:t>[5])</a:t>
            </a:r>
          </a:p>
          <a:p>
            <a:r>
              <a:rPr lang="en-US" dirty="0">
                <a:solidFill>
                  <a:schemeClr val="bg1"/>
                </a:solidFill>
              </a:rPr>
              <a:t> 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Output</a:t>
            </a:r>
            <a:r>
              <a:rPr lang="bg-BG" dirty="0">
                <a:solidFill>
                  <a:schemeClr val="bg1"/>
                </a:solidFill>
              </a:rPr>
              <a:t>:</a:t>
            </a:r>
          </a:p>
          <a:p>
            <a:r>
              <a:rPr lang="bg-BG" dirty="0" err="1">
                <a:solidFill>
                  <a:schemeClr val="bg1"/>
                </a:solidFill>
              </a:rPr>
              <a:t>IndexError</a:t>
            </a:r>
            <a:r>
              <a:rPr lang="bg-BG" dirty="0">
                <a:solidFill>
                  <a:schemeClr val="bg1"/>
                </a:solidFill>
              </a:rPr>
              <a:t>: </a:t>
            </a:r>
            <a:r>
              <a:rPr lang="bg-BG" dirty="0" err="1">
                <a:solidFill>
                  <a:schemeClr val="bg1"/>
                </a:solidFill>
              </a:rPr>
              <a:t>list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index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out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of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range</a:t>
            </a:r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116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7EAC-0F97-AB1B-B22E-DD7939FF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F3AEB3D1-F8BB-5A96-ED29-D7F2BF201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EB40CB-0A65-02F7-D3D4-DB7EC9084E11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1F788-4ED4-6AB6-8D90-A061F35047F8}"/>
              </a:ext>
            </a:extLst>
          </p:cNvPr>
          <p:cNvSpPr txBox="1"/>
          <p:nvPr/>
        </p:nvSpPr>
        <p:spPr>
          <a:xfrm>
            <a:off x="933855" y="2007009"/>
            <a:ext cx="23441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9.9 Logical Errors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497DA-C15B-6674-75B0-0ACF3DA3FBE8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79DA8-1A11-2667-3610-16C5084732B1}"/>
              </a:ext>
            </a:extLst>
          </p:cNvPr>
          <p:cNvSpPr txBox="1"/>
          <p:nvPr/>
        </p:nvSpPr>
        <p:spPr>
          <a:xfrm>
            <a:off x="914400" y="2632011"/>
            <a:ext cx="61186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runs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without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error</a:t>
            </a:r>
            <a:r>
              <a:rPr lang="bg-BG" dirty="0">
                <a:solidFill>
                  <a:schemeClr val="bg1"/>
                </a:solidFill>
              </a:rPr>
              <a:t>, </a:t>
            </a:r>
            <a:r>
              <a:rPr lang="bg-BG" dirty="0" err="1">
                <a:solidFill>
                  <a:schemeClr val="bg1"/>
                </a:solidFill>
              </a:rPr>
              <a:t>but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doesn’t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what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intended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bg-BG" b="1" dirty="0" err="1">
                <a:solidFill>
                  <a:schemeClr val="bg1"/>
                </a:solidFill>
              </a:rPr>
              <a:t>Example</a:t>
            </a:r>
            <a:r>
              <a:rPr lang="bg-BG" b="1" dirty="0">
                <a:solidFill>
                  <a:schemeClr val="bg1"/>
                </a:solidFill>
              </a:rPr>
              <a:t>: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>
                <a:solidFill>
                  <a:schemeClr val="bg1"/>
                </a:solidFill>
              </a:rPr>
              <a:t># </a:t>
            </a:r>
            <a:r>
              <a:rPr lang="bg-BG" dirty="0" err="1">
                <a:solidFill>
                  <a:schemeClr val="bg1"/>
                </a:solidFill>
              </a:rPr>
              <a:t>supposed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multiply</a:t>
            </a:r>
            <a:endParaRPr lang="bg-BG" dirty="0">
              <a:solidFill>
                <a:schemeClr val="bg1"/>
              </a:solidFill>
            </a:endParaRPr>
          </a:p>
          <a:p>
            <a:r>
              <a:rPr lang="bg-BG" dirty="0" err="1">
                <a:solidFill>
                  <a:schemeClr val="bg1"/>
                </a:solidFill>
              </a:rPr>
              <a:t>print</a:t>
            </a:r>
            <a:r>
              <a:rPr lang="bg-BG" dirty="0">
                <a:solidFill>
                  <a:schemeClr val="bg1"/>
                </a:solidFill>
              </a:rPr>
              <a:t>(2 + 2) 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75937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2247-738C-1EAA-02C0-C3C5A2C4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07FE8C24-01A5-DD62-E48F-725FAA294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17E6DA-61B6-5F83-626B-7D75634596F0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DBF77-97C9-A3CC-B000-DCB6E3A9A917}"/>
              </a:ext>
            </a:extLst>
          </p:cNvPr>
          <p:cNvSpPr txBox="1"/>
          <p:nvPr/>
        </p:nvSpPr>
        <p:spPr>
          <a:xfrm>
            <a:off x="933855" y="2007009"/>
            <a:ext cx="57533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9.10 </a:t>
            </a:r>
            <a:r>
              <a:rPr lang="bg-BG" sz="2400" b="1" dirty="0" err="1">
                <a:solidFill>
                  <a:schemeClr val="bg1"/>
                </a:solidFill>
              </a:rPr>
              <a:t>How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to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Read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Error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Messages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Like</a:t>
            </a:r>
            <a:r>
              <a:rPr lang="bg-BG" sz="2400" b="1" dirty="0">
                <a:solidFill>
                  <a:schemeClr val="bg1"/>
                </a:solidFill>
              </a:rPr>
              <a:t> a Pro</a:t>
            </a:r>
            <a:endParaRPr lang="bg-BG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F7595-7622-4A23-AD21-A3B5854AE806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69C9A-61A6-F90B-3E84-B47C234171B0}"/>
              </a:ext>
            </a:extLst>
          </p:cNvPr>
          <p:cNvSpPr txBox="1"/>
          <p:nvPr/>
        </p:nvSpPr>
        <p:spPr>
          <a:xfrm>
            <a:off x="933855" y="2974715"/>
            <a:ext cx="6118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 err="1">
                <a:solidFill>
                  <a:schemeClr val="bg1"/>
                </a:solidFill>
              </a:rPr>
              <a:t>Start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at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the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bottom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line</a:t>
            </a:r>
            <a:r>
              <a:rPr lang="bg-BG" b="1" dirty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bg-BG" b="1" dirty="0" err="1">
                <a:solidFill>
                  <a:schemeClr val="bg1"/>
                </a:solidFill>
              </a:rPr>
              <a:t>Look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at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the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file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and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line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number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above</a:t>
            </a:r>
            <a:r>
              <a:rPr lang="bg-BG" b="1" dirty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bg-BG" b="1" dirty="0" err="1">
                <a:solidFill>
                  <a:schemeClr val="bg1"/>
                </a:solidFill>
              </a:rPr>
              <a:t>Check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the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red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underlines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 err="1">
                <a:solidFill>
                  <a:schemeClr val="bg1"/>
                </a:solidFill>
              </a:rPr>
              <a:t>in</a:t>
            </a:r>
            <a:r>
              <a:rPr lang="bg-BG" b="1" dirty="0">
                <a:solidFill>
                  <a:schemeClr val="bg1"/>
                </a:solidFill>
              </a:rPr>
              <a:t> VS </a:t>
            </a:r>
            <a:r>
              <a:rPr lang="bg-BG" b="1" dirty="0" err="1">
                <a:solidFill>
                  <a:schemeClr val="bg1"/>
                </a:solidFill>
              </a:rPr>
              <a:t>Code</a:t>
            </a:r>
            <a:r>
              <a:rPr lang="bg-BG" b="1" dirty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627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9E50-CE75-1FE4-F1DD-1C4ECF2F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40006169-6631-7AFA-43A8-6E7251B2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60B06E-24AD-5350-CA87-29769E28EB58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181A8-1CDC-FBA6-1E16-6AF50CBAD02D}"/>
              </a:ext>
            </a:extLst>
          </p:cNvPr>
          <p:cNvSpPr txBox="1"/>
          <p:nvPr/>
        </p:nvSpPr>
        <p:spPr>
          <a:xfrm>
            <a:off x="933855" y="2007009"/>
            <a:ext cx="488697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9.11 </a:t>
            </a:r>
            <a:r>
              <a:rPr lang="bg-BG" sz="2400" b="1" dirty="0" err="1">
                <a:solidFill>
                  <a:schemeClr val="bg1"/>
                </a:solidFill>
              </a:rPr>
              <a:t>Tips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to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Avoid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Common</a:t>
            </a:r>
            <a:r>
              <a:rPr lang="bg-BG" sz="2400" b="1" dirty="0">
                <a:solidFill>
                  <a:schemeClr val="bg1"/>
                </a:solidFill>
              </a:rPr>
              <a:t> </a:t>
            </a:r>
            <a:r>
              <a:rPr lang="bg-BG" sz="2400" b="1" dirty="0" err="1">
                <a:solidFill>
                  <a:schemeClr val="bg1"/>
                </a:solidFill>
              </a:rPr>
              <a:t>Mistakes</a:t>
            </a:r>
            <a:endParaRPr lang="bg-BG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EEDB1-0C79-B4B9-A93D-6B0A3CAC3817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7B49F-0D96-68C5-0495-03997DD08CCB}"/>
              </a:ext>
            </a:extLst>
          </p:cNvPr>
          <p:cNvSpPr txBox="1"/>
          <p:nvPr/>
        </p:nvSpPr>
        <p:spPr>
          <a:xfrm>
            <a:off x="933855" y="2687353"/>
            <a:ext cx="61186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Always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close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parentheses</a:t>
            </a:r>
            <a:r>
              <a:rPr lang="bg-BG" dirty="0">
                <a:solidFill>
                  <a:schemeClr val="bg1"/>
                </a:solidFill>
              </a:rPr>
              <a:t> (), </a:t>
            </a:r>
            <a:r>
              <a:rPr lang="bg-BG" dirty="0" err="1">
                <a:solidFill>
                  <a:schemeClr val="bg1"/>
                </a:solidFill>
              </a:rPr>
              <a:t>brackets</a:t>
            </a:r>
            <a:r>
              <a:rPr lang="bg-BG" dirty="0">
                <a:solidFill>
                  <a:schemeClr val="bg1"/>
                </a:solidFill>
              </a:rPr>
              <a:t> [],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quotes</a:t>
            </a:r>
            <a:r>
              <a:rPr lang="bg-BG" dirty="0">
                <a:solidFill>
                  <a:schemeClr val="bg1"/>
                </a:solidFill>
              </a:rPr>
              <a:t> "".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en-US" dirty="0">
                <a:solidFill>
                  <a:schemeClr val="bg1"/>
                </a:solidFill>
              </a:rPr>
              <a:t>P</a:t>
            </a:r>
            <a:r>
              <a:rPr lang="bg-BG" dirty="0" err="1">
                <a:solidFill>
                  <a:schemeClr val="bg1"/>
                </a:solidFill>
              </a:rPr>
              <a:t>ay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attention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indentation</a:t>
            </a:r>
            <a:r>
              <a:rPr lang="bg-BG" dirty="0">
                <a:solidFill>
                  <a:schemeClr val="bg1"/>
                </a:solidFill>
              </a:rPr>
              <a:t> — </a:t>
            </a:r>
            <a:r>
              <a:rPr lang="bg-BG" dirty="0" err="1">
                <a:solidFill>
                  <a:schemeClr val="bg1"/>
                </a:solidFill>
              </a:rPr>
              <a:t>Python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relies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it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Give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variables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clear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names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spell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them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consistently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Don’t</a:t>
            </a:r>
            <a:r>
              <a:rPr lang="bg-BG" dirty="0">
                <a:solidFill>
                  <a:schemeClr val="bg1"/>
                </a:solidFill>
              </a:rPr>
              <a:t> mix </a:t>
            </a:r>
            <a:r>
              <a:rPr lang="bg-BG" dirty="0" err="1">
                <a:solidFill>
                  <a:schemeClr val="bg1"/>
                </a:solidFill>
              </a:rPr>
              <a:t>text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and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numbers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without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converting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Run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often</a:t>
            </a:r>
            <a:r>
              <a:rPr lang="bg-BG" dirty="0">
                <a:solidFill>
                  <a:schemeClr val="bg1"/>
                </a:solidFill>
              </a:rPr>
              <a:t> — </a:t>
            </a:r>
            <a:r>
              <a:rPr lang="bg-BG" dirty="0" err="1">
                <a:solidFill>
                  <a:schemeClr val="bg1"/>
                </a:solidFill>
              </a:rPr>
              <a:t>small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steps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make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debugging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easier</a:t>
            </a:r>
            <a:r>
              <a:rPr lang="bg-BG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4600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C2D0-BD7C-CC63-0196-5C14BDC9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1CE7D6BC-E3AF-D49D-B7D2-2F2CE9292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E272EC-B9CD-4F4B-EDAB-1B8B748EDA04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1A0EB-6E78-F6C1-1F93-359EFC44CBD1}"/>
              </a:ext>
            </a:extLst>
          </p:cNvPr>
          <p:cNvSpPr txBox="1"/>
          <p:nvPr/>
        </p:nvSpPr>
        <p:spPr>
          <a:xfrm>
            <a:off x="2955306" y="2967335"/>
            <a:ext cx="34974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9.13 Final Thoughts</a:t>
            </a:r>
            <a:endParaRPr lang="bg-BG" sz="4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5C859-AB7B-E508-F040-87227A0DBAC6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8079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1050-9515-63E9-BADE-F0B938A02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2D_digital_graphic_design_image_features_a_blue_.png">
            <a:extLst>
              <a:ext uri="{FF2B5EF4-FFF2-40B4-BE49-F238E27FC236}">
                <a16:creationId xmlns:a16="http://schemas.microsoft.com/office/drawing/2014/main" id="{B6A7DFE2-21E1-753C-C80C-C92A0451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0F0825-30B3-279A-BF7B-4092B7F92AA7}"/>
              </a:ext>
            </a:extLst>
          </p:cNvPr>
          <p:cNvSpPr txBox="1"/>
          <p:nvPr/>
        </p:nvSpPr>
        <p:spPr>
          <a:xfrm>
            <a:off x="3317132" y="914400"/>
            <a:ext cx="45031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bg-BG" sz="2800" b="1" dirty="0" err="1">
                <a:solidFill>
                  <a:schemeClr val="bg1"/>
                </a:solidFill>
              </a:rPr>
              <a:t>Section</a:t>
            </a:r>
            <a:r>
              <a:rPr lang="bg-BG" sz="2800" b="1" dirty="0">
                <a:solidFill>
                  <a:schemeClr val="bg1"/>
                </a:solidFill>
              </a:rPr>
              <a:t> 9 — </a:t>
            </a:r>
            <a:r>
              <a:rPr lang="bg-BG" sz="2800" b="1" dirty="0" err="1">
                <a:solidFill>
                  <a:schemeClr val="bg1"/>
                </a:solidFill>
              </a:rPr>
              <a:t>Typical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Errors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in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          </a:t>
            </a:r>
            <a:r>
              <a:rPr lang="bg-BG" sz="2800" b="1" dirty="0" err="1">
                <a:solidFill>
                  <a:schemeClr val="bg1"/>
                </a:solidFill>
              </a:rPr>
              <a:t>Python</a:t>
            </a:r>
            <a:r>
              <a:rPr lang="bg-BG" sz="2800" b="1" dirty="0">
                <a:solidFill>
                  <a:schemeClr val="bg1"/>
                </a:solidFill>
              </a:rPr>
              <a:t> </a:t>
            </a:r>
            <a:r>
              <a:rPr lang="bg-BG" sz="2800" b="1" dirty="0" err="1">
                <a:solidFill>
                  <a:schemeClr val="bg1"/>
                </a:solidFill>
              </a:rPr>
              <a:t>Programs</a:t>
            </a:r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4AF62-596E-FFA2-4B09-3C56D4C76EFA}"/>
              </a:ext>
            </a:extLst>
          </p:cNvPr>
          <p:cNvSpPr txBox="1"/>
          <p:nvPr/>
        </p:nvSpPr>
        <p:spPr>
          <a:xfrm>
            <a:off x="933855" y="1728155"/>
            <a:ext cx="20214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9.12 Summary</a:t>
            </a:r>
            <a:endParaRPr lang="bg-BG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48E1E-5073-9C33-5E4A-2838264AF0CE}"/>
              </a:ext>
            </a:extLst>
          </p:cNvPr>
          <p:cNvSpPr txBox="1"/>
          <p:nvPr/>
        </p:nvSpPr>
        <p:spPr>
          <a:xfrm>
            <a:off x="2746239" y="5692914"/>
            <a:ext cx="548336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PYTHON BASICS – LEARN PYTHON PROGRAMMING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/>
              <a:t>FOR BEGINNERS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480A2-95E1-2D20-74F9-AECA56136422}"/>
              </a:ext>
            </a:extLst>
          </p:cNvPr>
          <p:cNvSpPr txBox="1"/>
          <p:nvPr/>
        </p:nvSpPr>
        <p:spPr>
          <a:xfrm>
            <a:off x="933855" y="2211050"/>
            <a:ext cx="61186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Errors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are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normal</a:t>
            </a:r>
            <a:r>
              <a:rPr lang="bg-BG" dirty="0">
                <a:solidFill>
                  <a:schemeClr val="bg1"/>
                </a:solidFill>
              </a:rPr>
              <a:t> — </a:t>
            </a:r>
            <a:r>
              <a:rPr lang="bg-BG" dirty="0" err="1">
                <a:solidFill>
                  <a:schemeClr val="bg1"/>
                </a:solidFill>
              </a:rPr>
              <a:t>every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programmer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makes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them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Syntax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errors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stop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from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running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Runtime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errors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happen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while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your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runs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Logical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errors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happen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when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logic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wrong</a:t>
            </a:r>
            <a:r>
              <a:rPr lang="bg-BG" dirty="0">
                <a:solidFill>
                  <a:schemeClr val="bg1"/>
                </a:solidFill>
              </a:rPr>
              <a:t> — </a:t>
            </a:r>
            <a:r>
              <a:rPr lang="bg-BG" dirty="0" err="1">
                <a:solidFill>
                  <a:schemeClr val="bg1"/>
                </a:solidFill>
              </a:rPr>
              <a:t>even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if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code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correct</a:t>
            </a:r>
            <a:r>
              <a:rPr lang="bg-B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lvl="0" fontAlgn="auto"/>
            <a:endParaRPr lang="bg-BG" dirty="0">
              <a:solidFill>
                <a:schemeClr val="bg1"/>
              </a:solidFill>
            </a:endParaRPr>
          </a:p>
          <a:p>
            <a:pPr lvl="0" fontAlgn="auto"/>
            <a:r>
              <a:rPr lang="bg-BG" dirty="0" err="1">
                <a:solidFill>
                  <a:schemeClr val="bg1"/>
                </a:solidFill>
              </a:rPr>
              <a:t>The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best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way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learn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is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 err="1">
                <a:solidFill>
                  <a:schemeClr val="bg1"/>
                </a:solidFill>
              </a:rPr>
              <a:t>to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break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your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code</a:t>
            </a:r>
            <a:r>
              <a:rPr lang="bg-BG" i="1" dirty="0">
                <a:solidFill>
                  <a:schemeClr val="bg1"/>
                </a:solidFill>
              </a:rPr>
              <a:t>, </a:t>
            </a:r>
            <a:r>
              <a:rPr lang="bg-BG" i="1" dirty="0" err="1">
                <a:solidFill>
                  <a:schemeClr val="bg1"/>
                </a:solidFill>
              </a:rPr>
              <a:t>read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the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error</a:t>
            </a:r>
            <a:r>
              <a:rPr lang="bg-BG" i="1" dirty="0">
                <a:solidFill>
                  <a:schemeClr val="bg1"/>
                </a:solidFill>
              </a:rPr>
              <a:t>, </a:t>
            </a:r>
            <a:r>
              <a:rPr lang="bg-BG" i="1" dirty="0" err="1">
                <a:solidFill>
                  <a:schemeClr val="bg1"/>
                </a:solidFill>
              </a:rPr>
              <a:t>and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fix</a:t>
            </a:r>
            <a:r>
              <a:rPr lang="bg-BG" i="1" dirty="0">
                <a:solidFill>
                  <a:schemeClr val="bg1"/>
                </a:solidFill>
              </a:rPr>
              <a:t> </a:t>
            </a:r>
            <a:r>
              <a:rPr lang="bg-BG" i="1" dirty="0" err="1">
                <a:solidFill>
                  <a:schemeClr val="bg1"/>
                </a:solidFill>
              </a:rPr>
              <a:t>it</a:t>
            </a:r>
            <a:r>
              <a:rPr lang="bg-BG" i="1" dirty="0">
                <a:solidFill>
                  <a:schemeClr val="bg1"/>
                </a:solidFill>
              </a:rPr>
              <a:t>.</a:t>
            </a:r>
            <a:endParaRPr lang="bg-B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70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735</Words>
  <Application>Microsoft Office PowerPoint</Application>
  <PresentationFormat>On-screen Show (4:3)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Marian Milushev</cp:lastModifiedBy>
  <cp:revision>3</cp:revision>
  <dcterms:created xsi:type="dcterms:W3CDTF">2013-01-27T09:14:16Z</dcterms:created>
  <dcterms:modified xsi:type="dcterms:W3CDTF">2025-11-06T10:48:50Z</dcterms:modified>
  <cp:category/>
</cp:coreProperties>
</file>